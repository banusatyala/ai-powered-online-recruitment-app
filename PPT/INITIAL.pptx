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notesMasterIdLst>
    <p:notesMasterId r:id="rId20"/>
  </p:notesMasterIdLst>
  <p:sldIdLst>
    <p:sldId id="256" r:id="rId2"/>
    <p:sldId id="301" r:id="rId3"/>
    <p:sldId id="258" r:id="rId4"/>
    <p:sldId id="259" r:id="rId5"/>
    <p:sldId id="260" r:id="rId6"/>
    <p:sldId id="261" r:id="rId7"/>
    <p:sldId id="262" r:id="rId8"/>
    <p:sldId id="263" r:id="rId9"/>
    <p:sldId id="264" r:id="rId10"/>
    <p:sldId id="265" r:id="rId11"/>
    <p:sldId id="266" r:id="rId12"/>
    <p:sldId id="267" r:id="rId13"/>
    <p:sldId id="268" r:id="rId14"/>
    <p:sldId id="303" r:id="rId15"/>
    <p:sldId id="270" r:id="rId16"/>
    <p:sldId id="271" r:id="rId17"/>
    <p:sldId id="274" r:id="rId18"/>
    <p:sldId id="29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kur Roshan Singh" initials="TRS" lastIdx="1" clrIdx="0">
    <p:extLst>
      <p:ext uri="{19B8F6BF-5375-455C-9EA6-DF929625EA0E}">
        <p15:presenceInfo xmlns:p15="http://schemas.microsoft.com/office/powerpoint/2012/main" userId="S-1-5-21-3460830895-525798342-3878488177-19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291" autoAdjust="0"/>
  </p:normalViewPr>
  <p:slideViewPr>
    <p:cSldViewPr snapToGrid="0">
      <p:cViewPr varScale="1">
        <p:scale>
          <a:sx n="72" d="100"/>
          <a:sy n="72"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B8C28-737E-47A7-A62D-91175A6A0F52}" type="datetimeFigureOut">
              <a:rPr lang="en-IN" smtClean="0"/>
              <a:t>24-01-2025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097776-9ACE-4CE6-9B49-06E8290DF3D7}" type="slidenum">
              <a:rPr lang="en-IN" smtClean="0"/>
              <a:t>‹#›</a:t>
            </a:fld>
            <a:endParaRPr lang="en-IN"/>
          </a:p>
        </p:txBody>
      </p:sp>
    </p:spTree>
    <p:extLst>
      <p:ext uri="{BB962C8B-B14F-4D97-AF65-F5344CB8AC3E}">
        <p14:creationId xmlns:p14="http://schemas.microsoft.com/office/powerpoint/2010/main" val="3435747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AAD347D-5ACD-4C99-B74B-A9C85AD731AF}" type="datetimeFigureOut">
              <a:rPr lang="en-US" smtClean="0"/>
              <a:t>1/24/2025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02111984F565}" type="slidenum">
              <a:rPr lang="en-US" smtClean="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6444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97883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084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27878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1749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0896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6646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4200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40649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065540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1409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7730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97659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739060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031746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29227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590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AAD347D-5ACD-4C99-B74B-A9C85AD731AF}" type="datetimeFigureOut">
              <a:rPr lang="en-US" smtClean="0"/>
              <a:t>1/24/2025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2347062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13554" y="2428392"/>
            <a:ext cx="8364892" cy="834524"/>
          </a:xfrm>
          <a:prstGeom prst="rect">
            <a:avLst/>
          </a:prstGeom>
        </p:spPr>
        <p:txBody>
          <a:bodyPr wrap="square">
            <a:spAutoFit/>
          </a:bodyPr>
          <a:lstStyle/>
          <a:p>
            <a:pPr algn="ctr">
              <a:lnSpc>
                <a:spcPct val="150000"/>
              </a:lnSpc>
              <a:spcAft>
                <a:spcPts val="800"/>
              </a:spcAft>
            </a:pPr>
            <a:r>
              <a:rPr lang="en-IN" sz="36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AI Powered Online Recruitment </a:t>
            </a:r>
            <a:endParaRPr lang="en-IN"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14731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8342" y="592574"/>
            <a:ext cx="92845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INDEX</a:t>
            </a:r>
            <a:endParaRPr lang="en-US" dirty="0"/>
          </a:p>
        </p:txBody>
      </p:sp>
      <p:sp>
        <p:nvSpPr>
          <p:cNvPr id="3" name="Rectangle 2"/>
          <p:cNvSpPr/>
          <p:nvPr/>
        </p:nvSpPr>
        <p:spPr>
          <a:xfrm>
            <a:off x="1092250" y="1110666"/>
            <a:ext cx="6096000" cy="4801314"/>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And Motivation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Advantages</a:t>
            </a:r>
          </a:p>
        </p:txBody>
      </p:sp>
      <p:sp>
        <p:nvSpPr>
          <p:cNvPr id="4" name="Rectangle 3"/>
          <p:cNvSpPr/>
          <p:nvPr/>
        </p:nvSpPr>
        <p:spPr>
          <a:xfrm>
            <a:off x="6096000" y="1212493"/>
            <a:ext cx="6096000" cy="2383217"/>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996728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23062" y="683740"/>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922350" y="1250861"/>
            <a:ext cx="10347300" cy="4923399"/>
          </a:xfrm>
          <a:prstGeom prst="rect">
            <a:avLst/>
          </a:prstGeom>
        </p:spPr>
        <p:txBody>
          <a:bodyPr wrap="square">
            <a:spAutoFit/>
          </a:bodyPr>
          <a:lstStyle/>
          <a:p>
            <a:pPr algn="just">
              <a:lnSpc>
                <a:spcPct val="150000"/>
              </a:lnSpc>
              <a:spcAft>
                <a:spcPts val="800"/>
              </a:spcAft>
            </a:pPr>
            <a:r>
              <a:rPr lang="en-US" sz="1700" dirty="0">
                <a:latin typeface="Times New Roman" panose="02020603050405020304" pitchFamily="18" charset="0"/>
                <a:ea typeface="Calibri" panose="020F0502020204030204" pitchFamily="34" charset="0"/>
                <a:cs typeface="Times New Roman" panose="02020603050405020304" pitchFamily="18" charset="0"/>
              </a:rPr>
              <a:t>Artificial Intelligence (AI) can play a pivotal role in the company recruiting process, facilitating excellence. This app faces challenges AI faces in the hiring process and the outcomes results of using AI in the hiring process. The benefits of using AI in the hiring process include identifying AI vendors and firms that have adopted AI in the hiring process, analyzing the present state of AI to facilitate the hiring process, and the impact of adopting AI in the hiring process. Through this app different perceptions, ideas, and opinions are presented to modulate the use of AI in human resource management. The findings indicate that AI is adopted mainly in high-tech or large companies. The reports presented by these companies on the use of AI thus do not provide an actual picture of the usage and step by step evaluation as interviews are still a part of the recruitment process providing space for human bias. The aspect of AI to support human resources in decision making, not a threat as AI is considered to take over the human roles in human resource management, should also be studied in detail</a:t>
            </a:r>
            <a:r>
              <a:rPr lang="en-US"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Keywords</a:t>
            </a:r>
            <a:r>
              <a:rPr lang="en-US" dirty="0">
                <a:latin typeface="Times New Roman" panose="02020603050405020304" pitchFamily="18" charset="0"/>
                <a:ea typeface="Calibri" panose="020F0502020204030204" pitchFamily="34" charset="0"/>
                <a:cs typeface="Times New Roman" panose="02020603050405020304" pitchFamily="18" charset="0"/>
              </a:rPr>
              <a:t>: Artificial Intelligence (AI), Hiring process, Challenges, Outcomes, Adoption, Human resource management</a:t>
            </a:r>
          </a:p>
        </p:txBody>
      </p:sp>
    </p:spTree>
    <p:extLst>
      <p:ext uri="{BB962C8B-B14F-4D97-AF65-F5344CB8AC3E}">
        <p14:creationId xmlns:p14="http://schemas.microsoft.com/office/powerpoint/2010/main" val="1960552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53590" y="752642"/>
            <a:ext cx="8596668" cy="7984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83D8B131-C32A-0235-00ED-2F6C0CB85975}"/>
              </a:ext>
            </a:extLst>
          </p:cNvPr>
          <p:cNvSpPr txBox="1"/>
          <p:nvPr/>
        </p:nvSpPr>
        <p:spPr>
          <a:xfrm>
            <a:off x="1196454" y="2363756"/>
            <a:ext cx="9799092" cy="3371885"/>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objective of this abstract is to provide a comprehensive overview of the use of AI in the hiring process. It aims to explore the challenges and outcomes associated with AI adoption, while highlighting the benefits it brings to recruitment. The abstract also seeks to present diverse perspectives on AI in human resource management, emphasizing the need for a balanced approach to address biases and support decision-making. It recognizes the prevalent utilization of AI in high-tech or large companies but raises concerns about the limited evaluation due to the continued reliance on interviews. Ultimately, the objective is to foster a deeper understanding of AI's role in recruiting and its potential to drive excellence in human resource management</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31895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95B58230-1704-28A2-A524-3557D8B7BBEB}"/>
              </a:ext>
            </a:extLst>
          </p:cNvPr>
          <p:cNvSpPr txBox="1"/>
          <p:nvPr/>
        </p:nvSpPr>
        <p:spPr>
          <a:xfrm>
            <a:off x="1351128" y="2919722"/>
            <a:ext cx="9735971" cy="1709892"/>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AI adoption in recruitment faces challenges, including incomplete integration and reliance on human biases in the hiring process. Despite being used in large and high-tech companies, the actual impact of AI is unclear, with interviews still playing a major role. A detailed understanding of AI's role in decision-making and bias reduction is essential</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5784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09782" y="8269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a:t>
            </a:r>
          </a:p>
        </p:txBody>
      </p:sp>
      <p:sp>
        <p:nvSpPr>
          <p:cNvPr id="4" name="Rectangle 3"/>
          <p:cNvSpPr/>
          <p:nvPr/>
        </p:nvSpPr>
        <p:spPr>
          <a:xfrm>
            <a:off x="1107583" y="1928590"/>
            <a:ext cx="9620518" cy="987706"/>
          </a:xfrm>
          <a:prstGeom prst="rect">
            <a:avLst/>
          </a:prstGeom>
        </p:spPr>
        <p:txBody>
          <a:bodyPr wrap="square">
            <a:spAutoFit/>
          </a:bodyPr>
          <a:lstStyle/>
          <a:p>
            <a:pPr algn="just">
              <a:lnSpc>
                <a:spcPct val="150000"/>
              </a:lnSpc>
              <a:spcAft>
                <a:spcPts val="800"/>
              </a:spcAft>
            </a:pPr>
            <a:endParaRPr lang="en-IN" sz="2000" dirty="0">
              <a:effectLst/>
              <a:latin typeface="Times New Roman" panose="02020603050405020304" pitchFamily="18" charset="0"/>
              <a:ea typeface="Times New Roman" panose="02020603050405020304" pitchFamily="18" charset="0"/>
            </a:endParaRPr>
          </a:p>
          <a:p>
            <a:pPr algn="just">
              <a:lnSpc>
                <a:spcPct val="150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D296B6E-1EE3-5398-9F75-7539EFA417D0}"/>
              </a:ext>
            </a:extLst>
          </p:cNvPr>
          <p:cNvSpPr txBox="1"/>
          <p:nvPr/>
        </p:nvSpPr>
        <p:spPr>
          <a:xfrm>
            <a:off x="1123666" y="2858572"/>
            <a:ext cx="9960751" cy="2740750"/>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This app investigates the use of Artificial Intelligence (AI) in the recruitment process, focusing on its benefits, challenges, and impact on hiring outcomes. It analyzes AI adoption by companies, identifies AI vendors, and evaluates how AI affects human resource decisions. The app provides insights into AI's potential role in improving recruitment practices and reducing bias</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7007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
        <p:nvSpPr>
          <p:cNvPr id="4" name="TextBox 3">
            <a:extLst>
              <a:ext uri="{FF2B5EF4-FFF2-40B4-BE49-F238E27FC236}">
                <a16:creationId xmlns:a16="http://schemas.microsoft.com/office/drawing/2014/main" id="{118458AA-7756-2A16-9C04-13AEA1812C6D}"/>
              </a:ext>
            </a:extLst>
          </p:cNvPr>
          <p:cNvSpPr txBox="1"/>
          <p:nvPr/>
        </p:nvSpPr>
        <p:spPr>
          <a:xfrm>
            <a:off x="1401548" y="2770293"/>
            <a:ext cx="9816120" cy="1709892"/>
          </a:xfrm>
          <a:prstGeom prst="rect">
            <a:avLst/>
          </a:prstGeom>
          <a:noFill/>
        </p:spPr>
        <p:txBody>
          <a:bodyPr wrap="square">
            <a:spAutoFit/>
          </a:bodyPr>
          <a:lstStyle/>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motivation behind this project is to explore how AI can revolutionize the recruitment process by making it more efficient, fair, and less biased. By investigating AI adoption in hiring, this project aims to understand its challenges and benefits, ultimately providing insights that can improve hiring practices, reduce human biases, and enhance decision-making in human resource management</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27979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72490" y="59199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9C70EFC5-668D-84C6-15B6-208E5BA4DB83}"/>
              </a:ext>
            </a:extLst>
          </p:cNvPr>
          <p:cNvSpPr txBox="1"/>
          <p:nvPr/>
        </p:nvSpPr>
        <p:spPr>
          <a:xfrm>
            <a:off x="743045" y="2516790"/>
            <a:ext cx="10705910" cy="2120068"/>
          </a:xfrm>
          <a:prstGeom prst="rect">
            <a:avLst/>
          </a:prstGeom>
          <a:noFill/>
        </p:spPr>
        <p:txBody>
          <a:bodyPr wrap="square">
            <a:spAutoFit/>
          </a:bodyPr>
          <a:lstStyle/>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Artificial Intelligence (AI) has emerged as a transformative technology across various industries, and the field of human resource management is no exception. In recent years, AI has increasingly played a pivotal role in the company recruiting process, revolutionizing the way organizations attract and select talent. By leveraging AI-powered tools and algorithms, companies aim to enhance efficiency, accuracy, and fairness in their hiring practices. However, the integration of AI in the hiring process is not without its challenges. </a:t>
            </a:r>
          </a:p>
        </p:txBody>
      </p:sp>
    </p:spTree>
    <p:extLst>
      <p:ext uri="{BB962C8B-B14F-4D97-AF65-F5344CB8AC3E}">
        <p14:creationId xmlns:p14="http://schemas.microsoft.com/office/powerpoint/2010/main" val="2911279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graphicFrame>
        <p:nvGraphicFramePr>
          <p:cNvPr id="5" name="Table 4">
            <a:extLst>
              <a:ext uri="{FF2B5EF4-FFF2-40B4-BE49-F238E27FC236}">
                <a16:creationId xmlns:a16="http://schemas.microsoft.com/office/drawing/2014/main" id="{6BBA804A-39A0-4E4B-9435-E1E0596F663B}"/>
              </a:ext>
            </a:extLst>
          </p:cNvPr>
          <p:cNvGraphicFramePr>
            <a:graphicFrameLocks noGrp="1"/>
          </p:cNvGraphicFramePr>
          <p:nvPr>
            <p:extLst>
              <p:ext uri="{D42A27DB-BD31-4B8C-83A1-F6EECF244321}">
                <p14:modId xmlns:p14="http://schemas.microsoft.com/office/powerpoint/2010/main" val="3067379933"/>
              </p:ext>
            </p:extLst>
          </p:nvPr>
        </p:nvGraphicFramePr>
        <p:xfrm>
          <a:off x="887895" y="1470991"/>
          <a:ext cx="10429460" cy="4572001"/>
        </p:xfrm>
        <a:graphic>
          <a:graphicData uri="http://schemas.openxmlformats.org/drawingml/2006/table">
            <a:tbl>
              <a:tblPr>
                <a:tableStyleId>{5940675A-B579-460E-94D1-54222C63F5DA}</a:tableStyleId>
              </a:tblPr>
              <a:tblGrid>
                <a:gridCol w="1179444">
                  <a:extLst>
                    <a:ext uri="{9D8B030D-6E8A-4147-A177-3AD203B41FA5}">
                      <a16:colId xmlns:a16="http://schemas.microsoft.com/office/drawing/2014/main" val="3926966284"/>
                    </a:ext>
                  </a:extLst>
                </a:gridCol>
                <a:gridCol w="2703444">
                  <a:extLst>
                    <a:ext uri="{9D8B030D-6E8A-4147-A177-3AD203B41FA5}">
                      <a16:colId xmlns:a16="http://schemas.microsoft.com/office/drawing/2014/main" val="290848420"/>
                    </a:ext>
                  </a:extLst>
                </a:gridCol>
                <a:gridCol w="2981739">
                  <a:extLst>
                    <a:ext uri="{9D8B030D-6E8A-4147-A177-3AD203B41FA5}">
                      <a16:colId xmlns:a16="http://schemas.microsoft.com/office/drawing/2014/main" val="3005873471"/>
                    </a:ext>
                  </a:extLst>
                </a:gridCol>
                <a:gridCol w="3564833">
                  <a:extLst>
                    <a:ext uri="{9D8B030D-6E8A-4147-A177-3AD203B41FA5}">
                      <a16:colId xmlns:a16="http://schemas.microsoft.com/office/drawing/2014/main" val="2636201928"/>
                    </a:ext>
                  </a:extLst>
                </a:gridCol>
              </a:tblGrid>
              <a:tr h="228600">
                <a:tc>
                  <a:txBody>
                    <a:bodyPr/>
                    <a:lstStyle/>
                    <a:p>
                      <a:pPr algn="ctr"/>
                      <a:r>
                        <a:rPr lang="en-IN" sz="1200" b="1" dirty="0">
                          <a:latin typeface="Times New Roman" panose="02020603050405020304" pitchFamily="18" charset="0"/>
                          <a:cs typeface="Times New Roman" panose="02020603050405020304" pitchFamily="18" charset="0"/>
                        </a:rPr>
                        <a:t>Serial No.</a:t>
                      </a:r>
                    </a:p>
                  </a:txBody>
                  <a:tcPr marL="41473" marR="41473" marT="20737" marB="20737" anchor="ctr"/>
                </a:tc>
                <a:tc>
                  <a:txBody>
                    <a:bodyPr/>
                    <a:lstStyle/>
                    <a:p>
                      <a:pPr algn="ctr"/>
                      <a:r>
                        <a:rPr lang="en-IN" sz="1200" b="1" dirty="0">
                          <a:latin typeface="Times New Roman" panose="02020603050405020304" pitchFamily="18" charset="0"/>
                          <a:cs typeface="Times New Roman" panose="02020603050405020304" pitchFamily="18" charset="0"/>
                        </a:rPr>
                        <a:t>Authors</a:t>
                      </a:r>
                    </a:p>
                  </a:txBody>
                  <a:tcPr marL="41473" marR="41473" marT="20737" marB="20737" anchor="ctr"/>
                </a:tc>
                <a:tc>
                  <a:txBody>
                    <a:bodyPr/>
                    <a:lstStyle/>
                    <a:p>
                      <a:pPr algn="ctr"/>
                      <a:r>
                        <a:rPr lang="en-IN" sz="1200" b="1">
                          <a:latin typeface="Times New Roman" panose="02020603050405020304" pitchFamily="18" charset="0"/>
                          <a:cs typeface="Times New Roman" panose="02020603050405020304" pitchFamily="18" charset="0"/>
                        </a:rPr>
                        <a:t>Title</a:t>
                      </a:r>
                    </a:p>
                  </a:txBody>
                  <a:tcPr marL="41473" marR="41473" marT="20737" marB="20737" anchor="ctr"/>
                </a:tc>
                <a:tc>
                  <a:txBody>
                    <a:bodyPr/>
                    <a:lstStyle/>
                    <a:p>
                      <a:pPr algn="ctr"/>
                      <a:r>
                        <a:rPr lang="en-IN" sz="1200" b="1" dirty="0">
                          <a:latin typeface="Times New Roman" panose="02020603050405020304" pitchFamily="18" charset="0"/>
                          <a:cs typeface="Times New Roman" panose="02020603050405020304" pitchFamily="18" charset="0"/>
                        </a:rPr>
                        <a:t>Outcome</a:t>
                      </a:r>
                    </a:p>
                  </a:txBody>
                  <a:tcPr marL="41473" marR="41473" marT="20737" marB="20737" anchor="ctr"/>
                </a:tc>
                <a:extLst>
                  <a:ext uri="{0D108BD9-81ED-4DB2-BD59-A6C34878D82A}">
                    <a16:rowId xmlns:a16="http://schemas.microsoft.com/office/drawing/2014/main" val="705557865"/>
                  </a:ext>
                </a:extLst>
              </a:tr>
              <a:tr h="1257301">
                <a:tc>
                  <a:txBody>
                    <a:bodyPr/>
                    <a:lstStyle/>
                    <a:p>
                      <a:pPr algn="ctr"/>
                      <a:r>
                        <a:rPr lang="en-IN" sz="1200" dirty="0">
                          <a:latin typeface="Times New Roman" panose="02020603050405020304" pitchFamily="18" charset="0"/>
                          <a:cs typeface="Times New Roman" panose="02020603050405020304" pitchFamily="18" charset="0"/>
                        </a:rPr>
                        <a:t>1</a:t>
                      </a:r>
                    </a:p>
                  </a:txBody>
                  <a:tcPr marL="41473" marR="41473" marT="20737" marB="20737" anchor="ctr"/>
                </a:tc>
                <a:tc>
                  <a:txBody>
                    <a:bodyPr/>
                    <a:lstStyle/>
                    <a:p>
                      <a:pPr algn="ctr"/>
                      <a:r>
                        <a:rPr lang="fi-FI" sz="1200" dirty="0">
                          <a:latin typeface="Times New Roman" panose="02020603050405020304" pitchFamily="18" charset="0"/>
                          <a:cs typeface="Times New Roman" panose="02020603050405020304" pitchFamily="18" charset="0"/>
                        </a:rPr>
                        <a:t>Sujoy Sen, Sanjeev Kadam, V.V. Ravi Kumar</a:t>
                      </a:r>
                    </a:p>
                  </a:txBody>
                  <a:tcPr marL="41473" marR="41473" marT="20737" marB="20737" anchor="ctr"/>
                </a:tc>
                <a:tc>
                  <a:txBody>
                    <a:bodyPr/>
                    <a:lstStyle/>
                    <a:p>
                      <a:pPr algn="ctr"/>
                      <a:r>
                        <a:rPr lang="en-US" sz="1200" dirty="0">
                          <a:latin typeface="Times New Roman" panose="02020603050405020304" pitchFamily="18" charset="0"/>
                          <a:cs typeface="Times New Roman" panose="02020603050405020304" pitchFamily="18" charset="0"/>
                        </a:rPr>
                        <a:t>Role of Artificial Intelligence-Enabled Recruitment Processes in Sourcing Talent</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AI recruitment is evolving from a supporting tool to a key business asset, improving recruitment efficiency and time savings.</a:t>
                      </a:r>
                    </a:p>
                  </a:txBody>
                  <a:tcPr marL="41473" marR="41473" marT="20737" marB="20737" anchor="ctr"/>
                </a:tc>
                <a:extLst>
                  <a:ext uri="{0D108BD9-81ED-4DB2-BD59-A6C34878D82A}">
                    <a16:rowId xmlns:a16="http://schemas.microsoft.com/office/drawing/2014/main" val="711136831"/>
                  </a:ext>
                </a:extLst>
              </a:tr>
              <a:tr h="914400">
                <a:tc>
                  <a:txBody>
                    <a:bodyPr/>
                    <a:lstStyle/>
                    <a:p>
                      <a:pPr algn="ctr"/>
                      <a:r>
                        <a:rPr lang="en-IN" sz="1200" dirty="0">
                          <a:latin typeface="Times New Roman" panose="02020603050405020304" pitchFamily="18" charset="0"/>
                          <a:cs typeface="Times New Roman" panose="02020603050405020304" pitchFamily="18" charset="0"/>
                        </a:rPr>
                        <a:t>2</a:t>
                      </a:r>
                    </a:p>
                  </a:txBody>
                  <a:tcPr marL="41473" marR="41473" marT="20737" marB="20737" anchor="ctr"/>
                </a:tc>
                <a:tc>
                  <a:txBody>
                    <a:bodyPr/>
                    <a:lstStyle/>
                    <a:p>
                      <a:pPr algn="ctr"/>
                      <a:r>
                        <a:rPr lang="en-IN" sz="1200" dirty="0" err="1">
                          <a:latin typeface="Times New Roman" panose="02020603050405020304" pitchFamily="18" charset="0"/>
                          <a:cs typeface="Times New Roman" panose="02020603050405020304" pitchFamily="18" charset="0"/>
                        </a:rPr>
                        <a:t>Beneduce</a:t>
                      </a:r>
                      <a:endParaRPr lang="en-IN" sz="1200" dirty="0">
                        <a:latin typeface="Times New Roman" panose="02020603050405020304" pitchFamily="18" charset="0"/>
                        <a:cs typeface="Times New Roman" panose="02020603050405020304" pitchFamily="18" charset="0"/>
                      </a:endParaRPr>
                    </a:p>
                  </a:txBody>
                  <a:tcPr marL="41473" marR="41473" marT="20737" marB="20737" anchor="ctr"/>
                </a:tc>
                <a:tc>
                  <a:txBody>
                    <a:bodyPr/>
                    <a:lstStyle/>
                    <a:p>
                      <a:pPr algn="ctr"/>
                      <a:r>
                        <a:rPr lang="en-US" sz="1200">
                          <a:latin typeface="Times New Roman" panose="02020603050405020304" pitchFamily="18" charset="0"/>
                          <a:cs typeface="Times New Roman" panose="02020603050405020304" pitchFamily="18" charset="0"/>
                        </a:rPr>
                        <a:t>Artificial Intelligence in Recruitment: Just Because It’s Biased, Does It Mean It’s Bad?</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AI in recruitment offers benefits, but concerns over bias hinder its widespread adoption despite its potential.</a:t>
                      </a:r>
                    </a:p>
                  </a:txBody>
                  <a:tcPr marL="41473" marR="41473" marT="20737" marB="20737" anchor="ctr"/>
                </a:tc>
                <a:extLst>
                  <a:ext uri="{0D108BD9-81ED-4DB2-BD59-A6C34878D82A}">
                    <a16:rowId xmlns:a16="http://schemas.microsoft.com/office/drawing/2014/main" val="3975844537"/>
                  </a:ext>
                </a:extLst>
              </a:tr>
              <a:tr h="1085850">
                <a:tc>
                  <a:txBody>
                    <a:bodyPr/>
                    <a:lstStyle/>
                    <a:p>
                      <a:pPr algn="ctr"/>
                      <a:r>
                        <a:rPr lang="en-IN" sz="1200">
                          <a:latin typeface="Times New Roman" panose="02020603050405020304" pitchFamily="18" charset="0"/>
                          <a:cs typeface="Times New Roman" panose="02020603050405020304" pitchFamily="18" charset="0"/>
                        </a:rPr>
                        <a:t>3</a:t>
                      </a:r>
                    </a:p>
                  </a:txBody>
                  <a:tcPr marL="41473" marR="41473" marT="20737" marB="20737" anchor="ctr"/>
                </a:tc>
                <a:tc>
                  <a:txBody>
                    <a:bodyPr/>
                    <a:lstStyle/>
                    <a:p>
                      <a:pPr algn="ctr"/>
                      <a:r>
                        <a:rPr lang="en-IN" sz="1200" dirty="0" err="1">
                          <a:latin typeface="Times New Roman" panose="02020603050405020304" pitchFamily="18" charset="0"/>
                          <a:cs typeface="Times New Roman" panose="02020603050405020304" pitchFamily="18" charset="0"/>
                        </a:rPr>
                        <a:t>Brishti</a:t>
                      </a:r>
                      <a:r>
                        <a:rPr lang="en-IN" sz="1200" dirty="0">
                          <a:latin typeface="Times New Roman" panose="02020603050405020304" pitchFamily="18" charset="0"/>
                          <a:cs typeface="Times New Roman" panose="02020603050405020304" pitchFamily="18" charset="0"/>
                        </a:rPr>
                        <a:t>, J.K., &amp; </a:t>
                      </a:r>
                      <a:r>
                        <a:rPr lang="en-IN" sz="1200" dirty="0" err="1">
                          <a:latin typeface="Times New Roman" panose="02020603050405020304" pitchFamily="18" charset="0"/>
                          <a:cs typeface="Times New Roman" panose="02020603050405020304" pitchFamily="18" charset="0"/>
                        </a:rPr>
                        <a:t>Javed</a:t>
                      </a:r>
                      <a:r>
                        <a:rPr lang="en-IN" sz="1200" dirty="0">
                          <a:latin typeface="Times New Roman" panose="02020603050405020304" pitchFamily="18" charset="0"/>
                          <a:cs typeface="Times New Roman" panose="02020603050405020304" pitchFamily="18" charset="0"/>
                        </a:rPr>
                        <a:t>. A</a:t>
                      </a:r>
                    </a:p>
                  </a:txBody>
                  <a:tcPr marL="41473" marR="41473" marT="20737" marB="20737" anchor="ctr"/>
                </a:tc>
                <a:tc>
                  <a:txBody>
                    <a:bodyPr/>
                    <a:lstStyle/>
                    <a:p>
                      <a:pPr algn="ctr"/>
                      <a:r>
                        <a:rPr lang="en-US" sz="1200" dirty="0">
                          <a:latin typeface="Times New Roman" panose="02020603050405020304" pitchFamily="18" charset="0"/>
                          <a:cs typeface="Times New Roman" panose="02020603050405020304" pitchFamily="18" charset="0"/>
                        </a:rPr>
                        <a:t>Application of Artificial Intelligence for Recruitment in Manufacturing Industries</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AI and automation in recruitment help manufacturing industries hire talent more efficiently, reducing costs and time.</a:t>
                      </a:r>
                    </a:p>
                  </a:txBody>
                  <a:tcPr marL="41473" marR="41473" marT="20737" marB="20737" anchor="ctr"/>
                </a:tc>
                <a:extLst>
                  <a:ext uri="{0D108BD9-81ED-4DB2-BD59-A6C34878D82A}">
                    <a16:rowId xmlns:a16="http://schemas.microsoft.com/office/drawing/2014/main" val="2590659470"/>
                  </a:ext>
                </a:extLst>
              </a:tr>
              <a:tr h="1085850">
                <a:tc>
                  <a:txBody>
                    <a:bodyPr/>
                    <a:lstStyle/>
                    <a:p>
                      <a:pPr algn="ctr"/>
                      <a:r>
                        <a:rPr lang="en-IN" sz="1200">
                          <a:latin typeface="Times New Roman" panose="02020603050405020304" pitchFamily="18" charset="0"/>
                          <a:cs typeface="Times New Roman" panose="02020603050405020304" pitchFamily="18" charset="0"/>
                        </a:rPr>
                        <a:t>4</a:t>
                      </a:r>
                    </a:p>
                  </a:txBody>
                  <a:tcPr marL="41473" marR="41473" marT="20737" marB="20737" anchor="ctr"/>
                </a:tc>
                <a:tc>
                  <a:txBody>
                    <a:bodyPr/>
                    <a:lstStyle/>
                    <a:p>
                      <a:pPr algn="ctr"/>
                      <a:r>
                        <a:rPr lang="en-IN" sz="1200" dirty="0" err="1">
                          <a:latin typeface="Times New Roman" panose="02020603050405020304" pitchFamily="18" charset="0"/>
                          <a:cs typeface="Times New Roman" panose="02020603050405020304" pitchFamily="18" charset="0"/>
                        </a:rPr>
                        <a:t>Madia</a:t>
                      </a:r>
                      <a:r>
                        <a:rPr lang="en-IN" sz="1200" dirty="0">
                          <a:latin typeface="Times New Roman" panose="02020603050405020304" pitchFamily="18" charset="0"/>
                          <a:cs typeface="Times New Roman" panose="02020603050405020304" pitchFamily="18" charset="0"/>
                        </a:rPr>
                        <a:t>, S.A.</a:t>
                      </a:r>
                    </a:p>
                  </a:txBody>
                  <a:tcPr marL="41473" marR="41473" marT="20737" marB="20737" anchor="ctr"/>
                </a:tc>
                <a:tc>
                  <a:txBody>
                    <a:bodyPr/>
                    <a:lstStyle/>
                    <a:p>
                      <a:pPr algn="ctr"/>
                      <a:r>
                        <a:rPr lang="en-US" sz="1200" dirty="0">
                          <a:latin typeface="Times New Roman" panose="02020603050405020304" pitchFamily="18" charset="0"/>
                          <a:cs typeface="Times New Roman" panose="02020603050405020304" pitchFamily="18" charset="0"/>
                        </a:rPr>
                        <a:t>Best Practices for Using Social Media as a Recruitment Strategy</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Examines social media recruitment best practices and emphasizes the importance of a strategy, content, and policies.</a:t>
                      </a:r>
                    </a:p>
                  </a:txBody>
                  <a:tcPr marL="41473" marR="41473" marT="20737" marB="20737" anchor="ctr"/>
                </a:tc>
                <a:extLst>
                  <a:ext uri="{0D108BD9-81ED-4DB2-BD59-A6C34878D82A}">
                    <a16:rowId xmlns:a16="http://schemas.microsoft.com/office/drawing/2014/main" val="3944800306"/>
                  </a:ext>
                </a:extLst>
              </a:tr>
            </a:tbl>
          </a:graphicData>
        </a:graphic>
      </p:graphicFrame>
    </p:spTree>
    <p:extLst>
      <p:ext uri="{BB962C8B-B14F-4D97-AF65-F5344CB8AC3E}">
        <p14:creationId xmlns:p14="http://schemas.microsoft.com/office/powerpoint/2010/main" val="262846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762" y="1190445"/>
            <a:ext cx="10597720" cy="526212"/>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method:</a:t>
            </a:r>
          </a:p>
        </p:txBody>
      </p:sp>
      <p:sp>
        <p:nvSpPr>
          <p:cNvPr id="3" name="Content Placeholder 2"/>
          <p:cNvSpPr>
            <a:spLocks noGrp="1"/>
          </p:cNvSpPr>
          <p:nvPr>
            <p:ph idx="1"/>
          </p:nvPr>
        </p:nvSpPr>
        <p:spPr>
          <a:xfrm>
            <a:off x="1143000" y="2583180"/>
            <a:ext cx="9253603" cy="3477953"/>
          </a:xfrm>
        </p:spPr>
        <p:txBody>
          <a:bodyPr>
            <a:normAutofit/>
          </a:bodyPr>
          <a:lstStyle/>
          <a:p>
            <a:pPr algn="just">
              <a:lnSpc>
                <a:spcPct val="150000"/>
              </a:lnSpc>
              <a:spcAft>
                <a:spcPts val="800"/>
              </a:spcAft>
            </a:pPr>
            <a:r>
              <a:rPr lang="en-US" sz="1800" dirty="0">
                <a:latin typeface="Times New Roman" panose="02020603050405020304" pitchFamily="18" charset="0"/>
                <a:ea typeface="Calibri" panose="020F0502020204030204" pitchFamily="34" charset="0"/>
                <a:cs typeface="Times New Roman" panose="02020603050405020304" pitchFamily="18" charset="0"/>
              </a:rPr>
              <a:t>Traditional Recruitment process and selection is a term that is often used to define the process when people apply for jobs using traditional paper applications and resumes. This is in contrast to the digital-only world of today, where job applications and resumes are mostly conducted online. This method of job application is referred to as traditional recruitment and selection. This method of job application is often used by large companies and organizations that have the time, space, and human resource to conduct traditional recruitment and selection</a:t>
            </a:r>
            <a:r>
              <a:rPr lang="en-IN" sz="1800"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4583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6098"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Disadvantages in Existing method:</a:t>
            </a:r>
          </a:p>
        </p:txBody>
      </p:sp>
      <p:sp>
        <p:nvSpPr>
          <p:cNvPr id="5" name="Content Placeholder 2"/>
          <p:cNvSpPr txBox="1">
            <a:spLocks/>
          </p:cNvSpPr>
          <p:nvPr/>
        </p:nvSpPr>
        <p:spPr>
          <a:xfrm>
            <a:off x="1531548" y="2714176"/>
            <a:ext cx="8915400" cy="198015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nSpc>
                <a:spcPct val="150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News papers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Internal hiring process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 New Roman" panose="02020603050405020304" pitchFamily="18" charset="0"/>
                <a:ea typeface="Times New Roman" panose="02020603050405020304" pitchFamily="18" charset="0"/>
              </a:rPr>
              <a:t>Local employment offices</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482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70649" y="65996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p>
        </p:txBody>
      </p:sp>
      <p:sp>
        <p:nvSpPr>
          <p:cNvPr id="5" name="Content Placeholder 2"/>
          <p:cNvSpPr>
            <a:spLocks noGrp="1"/>
          </p:cNvSpPr>
          <p:nvPr>
            <p:ph idx="1"/>
          </p:nvPr>
        </p:nvSpPr>
        <p:spPr>
          <a:xfrm>
            <a:off x="1270650" y="2628900"/>
            <a:ext cx="9976470" cy="3215309"/>
          </a:xfrm>
        </p:spPr>
        <p:txBody>
          <a:bodyPr>
            <a:normAutofit fontScale="85000" lnSpcReduction="20000"/>
          </a:bodyPr>
          <a:lstStyle/>
          <a:p>
            <a:pPr algn="just">
              <a:lnSpc>
                <a:spcPct val="170000"/>
              </a:lnSpc>
              <a:spcAft>
                <a:spcPts val="800"/>
              </a:spcAft>
            </a:pPr>
            <a:r>
              <a:rPr lang="en-US" sz="19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reports presented by these companies on the use of AI thus do not provide an actual picture of the usage and step by step evaluation as interviews are still a part of the recruitment process providing space for human bias. The aspect of AI to support human resources in decision making, not a threat as AI is considered to take over the human roles in human resource management, should also be studied in detail. Google ML Kit provided a very good technique which is Google OCR API kit. Which can read the text from pdf using camera v2 vision. Recommendation with text recognition useful to get key technologies from resume this makes useful sort the resumes for different technologies</a:t>
            </a:r>
            <a:r>
              <a:rPr lang="en-IN" sz="19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9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681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257183"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Advantages of Proposed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1424092" y="2887408"/>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gn="just">
              <a:lnSpc>
                <a:spcPct val="150000"/>
              </a:lnSpc>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Google vision API.</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Camera v2 vision. </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 New Roman" panose="02020603050405020304" pitchFamily="18" charset="0"/>
                <a:ea typeface="Calibri" panose="020F0502020204030204" pitchFamily="34" charset="0"/>
              </a:rPr>
              <a:t>Fast and accurate</a:t>
            </a:r>
            <a:r>
              <a:rPr lang="en-IN" dirty="0">
                <a:latin typeface="Times New Roman" panose="02020603050405020304" pitchFamily="18" charset="0"/>
                <a:ea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9232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Propose System Flow</a:t>
            </a:r>
          </a:p>
        </p:txBody>
      </p:sp>
      <p:sp>
        <p:nvSpPr>
          <p:cNvPr id="5" name="Content Placeholder 2"/>
          <p:cNvSpPr txBox="1"/>
          <p:nvPr/>
        </p:nvSpPr>
        <p:spPr>
          <a:xfrm>
            <a:off x="1740016" y="1911179"/>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endParaRPr lang="en-US" dirty="0">
              <a:solidFill>
                <a:schemeClr val="accent3">
                  <a:lumMod val="50000"/>
                </a:schemeClr>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5BA975-3D8F-462D-A118-CB680DB1D437}"/>
              </a:ext>
            </a:extLst>
          </p:cNvPr>
          <p:cNvPicPr>
            <a:picLocks noChangeAspect="1"/>
          </p:cNvPicPr>
          <p:nvPr/>
        </p:nvPicPr>
        <p:blipFill>
          <a:blip r:embed="rId2"/>
          <a:stretch>
            <a:fillRect/>
          </a:stretch>
        </p:blipFill>
        <p:spPr>
          <a:xfrm>
            <a:off x="2900159" y="2089468"/>
            <a:ext cx="5907536" cy="3103133"/>
          </a:xfrm>
          <a:prstGeom prst="rect">
            <a:avLst/>
          </a:prstGeom>
        </p:spPr>
      </p:pic>
    </p:spTree>
    <p:extLst>
      <p:ext uri="{BB962C8B-B14F-4D97-AF65-F5344CB8AC3E}">
        <p14:creationId xmlns:p14="http://schemas.microsoft.com/office/powerpoint/2010/main" val="946796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Content Placeholder 2"/>
          <p:cNvSpPr txBox="1"/>
          <p:nvPr/>
        </p:nvSpPr>
        <p:spPr>
          <a:xfrm>
            <a:off x="2092735" y="2011149"/>
            <a:ext cx="8892944" cy="3576851"/>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0" indent="0" algn="just">
              <a:lnSpc>
                <a:spcPct val="150000"/>
              </a:lnSpc>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JDK					-   Java(</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kotlin</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SDK					-   Android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IDE					- Android studio</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Database				- my </a:t>
            </a:r>
            <a:r>
              <a:rPr lang="en-IN" sz="2000" dirty="0">
                <a:latin typeface="Times New Roman" panose="02020603050405020304" pitchFamily="18" charset="0"/>
                <a:ea typeface="Calibri" panose="020F0502020204030204" pitchFamily="34" charset="0"/>
                <a:cs typeface="Times New Roman" panose="02020603050405020304" pitchFamily="18" charset="0"/>
              </a:rPr>
              <a:t>SQL</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836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5" name="Content Placeholder 2"/>
          <p:cNvSpPr txBox="1"/>
          <p:nvPr/>
        </p:nvSpPr>
        <p:spPr>
          <a:xfrm>
            <a:off x="1740016" y="1911179"/>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Processor                        -    I3/Intel Processor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RAM                              -    8 GB </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Hard Disk                      -    1TB</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118745" indent="0" algn="just">
              <a:lnSpc>
                <a:spcPct val="150000"/>
              </a:lnSpc>
              <a:buNone/>
            </a:pPr>
            <a:endParaRPr lang="en-US" dirty="0">
              <a:solidFill>
                <a:schemeClr val="accent3">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428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586121"/>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en-US" sz="3600" b="1" dirty="0">
                <a:latin typeface="Times New Roman" panose="02020603050405020304" pitchFamily="18" charset="0"/>
                <a:cs typeface="Times New Roman" panose="02020603050405020304" pitchFamily="18" charset="0"/>
              </a:rPr>
              <a:t>Modules</a:t>
            </a:r>
            <a:br>
              <a:rPr lang="en-US" altLang="en-US" sz="3600" b="1" dirty="0">
                <a:latin typeface="Times New Roman" panose="02020603050405020304" pitchFamily="18" charset="0"/>
                <a:cs typeface="Times New Roman" panose="02020603050405020304" pitchFamily="18" charset="0"/>
              </a:rPr>
            </a:br>
            <a:endParaRPr lang="en-US" sz="3600" b="1" dirty="0"/>
          </a:p>
        </p:txBody>
      </p:sp>
      <p:sp>
        <p:nvSpPr>
          <p:cNvPr id="7" name="Rectangle 6"/>
          <p:cNvSpPr>
            <a:spLocks noChangeArrowheads="1"/>
          </p:cNvSpPr>
          <p:nvPr/>
        </p:nvSpPr>
        <p:spPr bwMode="auto">
          <a:xfrm>
            <a:off x="1720523" y="604005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a:extLst>
              <a:ext uri="{FF2B5EF4-FFF2-40B4-BE49-F238E27FC236}">
                <a16:creationId xmlns:a16="http://schemas.microsoft.com/office/drawing/2014/main" id="{56F605CD-187F-4318-8604-55D4D5D83E2D}"/>
              </a:ext>
            </a:extLst>
          </p:cNvPr>
          <p:cNvSpPr>
            <a:spLocks noChangeArrowheads="1"/>
          </p:cNvSpPr>
          <p:nvPr/>
        </p:nvSpPr>
        <p:spPr bwMode="auto">
          <a:xfrm>
            <a:off x="954157" y="1847451"/>
            <a:ext cx="1050897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Admin: </a:t>
            </a:r>
            <a:r>
              <a:rPr lang="en-US" altLang="en-US" dirty="0">
                <a:latin typeface="Times New Roman" panose="02020603050405020304" pitchFamily="18" charset="0"/>
                <a:cs typeface="Times New Roman" panose="02020603050405020304" pitchFamily="18" charset="0"/>
              </a:rPr>
              <a:t>The admin module allows the addition of HR personnel, viewing user details, and accessing a list of shortlisted students. Admins also have the ability to update records in the database.</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HR: </a:t>
            </a:r>
            <a:r>
              <a:rPr lang="en-US" altLang="en-US" dirty="0">
                <a:latin typeface="Times New Roman" panose="02020603050405020304" pitchFamily="18" charset="0"/>
                <a:cs typeface="Times New Roman" panose="02020603050405020304" pitchFamily="18" charset="0"/>
              </a:rPr>
              <a:t>HR has access to add job offers, read resumes using AI, and make shortlists of candidates. HR can also update the job status and provide feedback, ensuring the recruitment process is efficient.</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User</a:t>
            </a:r>
            <a:r>
              <a:rPr lang="en-US" altLang="en-US" dirty="0">
                <a:latin typeface="Times New Roman" panose="02020603050405020304" pitchFamily="18" charset="0"/>
                <a:cs typeface="Times New Roman" panose="02020603050405020304" pitchFamily="18" charset="0"/>
              </a:rPr>
              <a:t>: Users can add personal details, view available job offers, upload resumes, and check their application status. Users can apply to job offers, and the system helps match them to suitable roles based on their profiles.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471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77371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4" name="Rectangle 3"/>
          <p:cNvSpPr/>
          <p:nvPr/>
        </p:nvSpPr>
        <p:spPr>
          <a:xfrm>
            <a:off x="865746" y="1539014"/>
            <a:ext cx="10460507" cy="3782446"/>
          </a:xfrm>
          <a:prstGeom prst="rect">
            <a:avLst/>
          </a:prstGeom>
        </p:spPr>
        <p:txBody>
          <a:bodyPr wrap="square">
            <a:spAutoFit/>
          </a:bodyPr>
          <a:lstStyle/>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[1]. Role of Artificial Intelligence-Enabled Recruitment Processes in Sourcing Talent; Sujoy Sen; Sanjeev Kadam; V.V. Ravi Kumar; 04 May 2023</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[2]. Role of Artificial Intelligence-Enabled Recruitment Processes in Sourcing Talent; 03-04 March 2023</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[3]. AI Recruiting Tools Aim to Reduce Bias in the Hiring Process; https://spectrum.ieee.org/ai-tools-bias-hiring;  September 2020</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[4]. </a:t>
            </a:r>
            <a:r>
              <a:rPr lang="en-IN" sz="1600" dirty="0" err="1">
                <a:latin typeface="Times New Roman" panose="02020603050405020304" pitchFamily="18" charset="0"/>
                <a:ea typeface="Calibri" panose="020F0502020204030204" pitchFamily="34" charset="0"/>
                <a:cs typeface="Times New Roman" panose="02020603050405020304" pitchFamily="18" charset="0"/>
              </a:rPr>
              <a:t>Beneduce</a:t>
            </a:r>
            <a:r>
              <a:rPr lang="en-IN" sz="1600" dirty="0">
                <a:latin typeface="Times New Roman" panose="02020603050405020304" pitchFamily="18" charset="0"/>
                <a:ea typeface="Calibri" panose="020F0502020204030204" pitchFamily="34" charset="0"/>
                <a:cs typeface="Times New Roman" panose="02020603050405020304" pitchFamily="18" charset="0"/>
              </a:rPr>
              <a:t>, G. (2020). Artificial Intelligence in Recruitment: just  because it´  s  biased,  does it  mean  it´s bad? (Doctoral dissertation). [Google Scholar] </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[5]. </a:t>
            </a:r>
            <a:r>
              <a:rPr lang="en-IN" sz="1600" dirty="0" err="1">
                <a:latin typeface="Times New Roman" panose="02020603050405020304" pitchFamily="18" charset="0"/>
                <a:ea typeface="Calibri" panose="020F0502020204030204" pitchFamily="34" charset="0"/>
                <a:cs typeface="Times New Roman" panose="02020603050405020304" pitchFamily="18" charset="0"/>
              </a:rPr>
              <a:t>Brishti</a:t>
            </a:r>
            <a:r>
              <a:rPr lang="en-IN" sz="1600" dirty="0">
                <a:latin typeface="Times New Roman" panose="02020603050405020304" pitchFamily="18" charset="0"/>
                <a:ea typeface="Calibri" panose="020F0502020204030204" pitchFamily="34" charset="0"/>
                <a:cs typeface="Times New Roman" panose="02020603050405020304" pitchFamily="18" charset="0"/>
              </a:rPr>
              <a:t>, J.K. &amp; </a:t>
            </a:r>
            <a:r>
              <a:rPr lang="en-IN" sz="1600" dirty="0" err="1">
                <a:latin typeface="Times New Roman" panose="02020603050405020304" pitchFamily="18" charset="0"/>
                <a:ea typeface="Calibri" panose="020F0502020204030204" pitchFamily="34" charset="0"/>
                <a:cs typeface="Times New Roman" panose="02020603050405020304" pitchFamily="18" charset="0"/>
              </a:rPr>
              <a:t>Javed</a:t>
            </a:r>
            <a:r>
              <a:rPr lang="en-IN" sz="1600" dirty="0">
                <a:latin typeface="Times New Roman" panose="02020603050405020304" pitchFamily="18" charset="0"/>
                <a:ea typeface="Calibri" panose="020F0502020204030204" pitchFamily="34" charset="0"/>
                <a:cs typeface="Times New Roman" panose="02020603050405020304" pitchFamily="18" charset="0"/>
              </a:rPr>
              <a:t>, A. (2020). The viability of  ai-based recruitment process: A  systematic literature review. [Google Scholar] </a:t>
            </a:r>
          </a:p>
        </p:txBody>
      </p:sp>
    </p:spTree>
    <p:extLst>
      <p:ext uri="{BB962C8B-B14F-4D97-AF65-F5344CB8AC3E}">
        <p14:creationId xmlns:p14="http://schemas.microsoft.com/office/powerpoint/2010/main" val="5667527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736</TotalTime>
  <Words>1427</Words>
  <Application>Microsoft Office PowerPoint</Application>
  <PresentationFormat>Widescreen</PresentationFormat>
  <Paragraphs>94</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Garamond</vt:lpstr>
      <vt:lpstr>Symbol</vt:lpstr>
      <vt:lpstr>Times New Roman</vt:lpstr>
      <vt:lpstr>Wingdings</vt:lpstr>
      <vt:lpstr>Wingdings 3</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method:</vt:lpstr>
      <vt:lpstr>PowerPoint Presentation</vt:lpstr>
      <vt:lpstr>Proposed method:</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Vallabhaneni</dc:creator>
  <cp:lastModifiedBy>Thakur Roshan Singh</cp:lastModifiedBy>
  <cp:revision>76</cp:revision>
  <dcterms:created xsi:type="dcterms:W3CDTF">2023-11-30T10:58:10Z</dcterms:created>
  <dcterms:modified xsi:type="dcterms:W3CDTF">2025-01-24T10:52:15Z</dcterms:modified>
</cp:coreProperties>
</file>