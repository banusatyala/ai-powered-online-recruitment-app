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88" r:id="rId1"/>
  </p:sldMasterIdLst>
  <p:notesMasterIdLst>
    <p:notesMasterId r:id="rId42"/>
  </p:notesMasterIdLst>
  <p:sldIdLst>
    <p:sldId id="256" r:id="rId2"/>
    <p:sldId id="301" r:id="rId3"/>
    <p:sldId id="258" r:id="rId4"/>
    <p:sldId id="259" r:id="rId5"/>
    <p:sldId id="260" r:id="rId6"/>
    <p:sldId id="261" r:id="rId7"/>
    <p:sldId id="262" r:id="rId8"/>
    <p:sldId id="263" r:id="rId9"/>
    <p:sldId id="264" r:id="rId10"/>
    <p:sldId id="265" r:id="rId11"/>
    <p:sldId id="266" r:id="rId12"/>
    <p:sldId id="267" r:id="rId13"/>
    <p:sldId id="268" r:id="rId14"/>
    <p:sldId id="303" r:id="rId15"/>
    <p:sldId id="270" r:id="rId16"/>
    <p:sldId id="271" r:id="rId17"/>
    <p:sldId id="274" r:id="rId18"/>
    <p:sldId id="307" r:id="rId19"/>
    <p:sldId id="308" r:id="rId20"/>
    <p:sldId id="309" r:id="rId21"/>
    <p:sldId id="310" r:id="rId22"/>
    <p:sldId id="311" r:id="rId23"/>
    <p:sldId id="312" r:id="rId24"/>
    <p:sldId id="313" r:id="rId25"/>
    <p:sldId id="314" r:id="rId26"/>
    <p:sldId id="315" r:id="rId27"/>
    <p:sldId id="318" r:id="rId28"/>
    <p:sldId id="317" r:id="rId29"/>
    <p:sldId id="316" r:id="rId30"/>
    <p:sldId id="319" r:id="rId31"/>
    <p:sldId id="320" r:id="rId32"/>
    <p:sldId id="321" r:id="rId33"/>
    <p:sldId id="322" r:id="rId34"/>
    <p:sldId id="323" r:id="rId35"/>
    <p:sldId id="338" r:id="rId36"/>
    <p:sldId id="349" r:id="rId37"/>
    <p:sldId id="350" r:id="rId38"/>
    <p:sldId id="336" r:id="rId39"/>
    <p:sldId id="347" r:id="rId40"/>
    <p:sldId id="299" r:id="rId4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hakur Roshan Singh" initials="TRS" lastIdx="1" clrIdx="0">
    <p:extLst>
      <p:ext uri="{19B8F6BF-5375-455C-9EA6-DF929625EA0E}">
        <p15:presenceInfo xmlns:p15="http://schemas.microsoft.com/office/powerpoint/2012/main" userId="S-1-5-21-3460830895-525798342-3878488177-192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544" autoAdjust="0"/>
    <p:restoredTop sz="94291" autoAdjust="0"/>
  </p:normalViewPr>
  <p:slideViewPr>
    <p:cSldViewPr snapToGrid="0">
      <p:cViewPr varScale="1">
        <p:scale>
          <a:sx n="72" d="100"/>
          <a:sy n="72" d="100"/>
        </p:scale>
        <p:origin x="59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commentAuthors" Target="commentAuthor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8B8C28-737E-47A7-A62D-91175A6A0F52}" type="datetimeFigureOut">
              <a:rPr lang="en-IN" smtClean="0"/>
              <a:t>24-01-2025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097776-9ACE-4CE6-9B49-06E8290DF3D7}" type="slidenum">
              <a:rPr lang="en-IN" smtClean="0"/>
              <a:t>‹#›</a:t>
            </a:fld>
            <a:endParaRPr lang="en-IN"/>
          </a:p>
        </p:txBody>
      </p:sp>
    </p:spTree>
    <p:extLst>
      <p:ext uri="{BB962C8B-B14F-4D97-AF65-F5344CB8AC3E}">
        <p14:creationId xmlns:p14="http://schemas.microsoft.com/office/powerpoint/2010/main" val="34357471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6246165-6545-48FF-8675-33DE2893409A}" type="slidenum">
              <a:rPr lang="en-IN" smtClean="0"/>
              <a:t>36</a:t>
            </a:fld>
            <a:endParaRPr lang="en-IN"/>
          </a:p>
        </p:txBody>
      </p:sp>
    </p:spTree>
    <p:extLst>
      <p:ext uri="{BB962C8B-B14F-4D97-AF65-F5344CB8AC3E}">
        <p14:creationId xmlns:p14="http://schemas.microsoft.com/office/powerpoint/2010/main" val="9305372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6246165-6545-48FF-8675-33DE2893409A}" type="slidenum">
              <a:rPr lang="en-IN" smtClean="0"/>
              <a:t>37</a:t>
            </a:fld>
            <a:endParaRPr lang="en-IN"/>
          </a:p>
        </p:txBody>
      </p:sp>
    </p:spTree>
    <p:extLst>
      <p:ext uri="{BB962C8B-B14F-4D97-AF65-F5344CB8AC3E}">
        <p14:creationId xmlns:p14="http://schemas.microsoft.com/office/powerpoint/2010/main" val="321884980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4AAD347D-5ACD-4C99-B74B-A9C85AD731AF}" type="datetimeFigureOut">
              <a:rPr lang="en-US" smtClean="0"/>
              <a:t>1/24/2025</a:t>
            </a:fld>
            <a:endParaRPr lang="en-US" dirty="0"/>
          </a:p>
        </p:txBody>
      </p:sp>
      <p:sp>
        <p:nvSpPr>
          <p:cNvPr id="5" name="Footer Placeholder 4"/>
          <p:cNvSpPr>
            <a:spLocks noGrp="1"/>
          </p:cNvSpPr>
          <p:nvPr>
            <p:ph type="ftr" sz="quarter" idx="11"/>
          </p:nvPr>
        </p:nvSpPr>
        <p:spPr>
          <a:xfrm>
            <a:off x="2692397" y="5037663"/>
            <a:ext cx="5214635" cy="279400"/>
          </a:xfrm>
        </p:spPr>
        <p:txBody>
          <a:bodyPr/>
          <a:lstStyle/>
          <a:p>
            <a:endParaRPr lang="en-US" dirty="0"/>
          </a:p>
        </p:txBody>
      </p:sp>
      <p:sp>
        <p:nvSpPr>
          <p:cNvPr id="6" name="Slide Number Placeholder 5"/>
          <p:cNvSpPr>
            <a:spLocks noGrp="1"/>
          </p:cNvSpPr>
          <p:nvPr>
            <p:ph type="sldNum" sz="quarter" idx="12"/>
          </p:nvPr>
        </p:nvSpPr>
        <p:spPr>
          <a:xfrm>
            <a:off x="8956900" y="5037663"/>
            <a:ext cx="551167" cy="279400"/>
          </a:xfrm>
        </p:spPr>
        <p:txBody>
          <a:bodyPr/>
          <a:lstStyle/>
          <a:p>
            <a:fld id="{D57F1E4F-1CFF-5643-939E-02111984F565}" type="slidenum">
              <a:rPr lang="en-US" smtClean="0"/>
              <a:t>‹#›</a:t>
            </a:fld>
            <a:endParaRPr lang="en-US" dirty="0"/>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36444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1/24/2025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0978839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96027F-7875-4030-9381-8BD8C4F21935}" type="datetimeFigureOut">
              <a:rPr lang="en-US" smtClean="0"/>
              <a:t>1/24/2025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608441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796027F-7875-4030-9381-8BD8C4F21935}" type="datetimeFigureOut">
              <a:rPr lang="en-US" smtClean="0"/>
              <a:t>1/24/2025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1278784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796027F-7875-4030-9381-8BD8C4F21935}" type="datetimeFigureOut">
              <a:rPr lang="en-US" smtClean="0"/>
              <a:t>1/24/2025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t>‹#›</a:t>
            </a:fld>
            <a:endParaRPr lang="en-US" dirty="0"/>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717492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509A250-FF31-4206-8172-F9D3106AACB1}" type="datetimeFigureOut">
              <a:rPr lang="en-US" smtClean="0"/>
              <a:t>1/24/2025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808961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09A250-FF31-4206-8172-F9D3106AACB1}" type="datetimeFigureOut">
              <a:rPr lang="en-US" smtClean="0"/>
              <a:t>1/24/2025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7664646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1/24/2025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142005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1/24/2025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1406496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AAD347D-5ACD-4C99-B74B-A9C85AD731AF}" type="datetimeFigureOut">
              <a:rPr lang="en-US" smtClean="0"/>
              <a:t>1/24/2025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706554080"/>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smtClean="0"/>
              <a:t>1/24/2025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714097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smtClean="0"/>
              <a:t>1/24/2025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877301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smtClean="0"/>
              <a:t>1/24/2025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7976598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AAD347D-5ACD-4C99-B74B-A9C85AD731AF}" type="datetimeFigureOut">
              <a:rPr lang="en-US" smtClean="0"/>
              <a:t>1/24/2025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07390606"/>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AAD347D-5ACD-4C99-B74B-A9C85AD731AF}" type="datetimeFigureOut">
              <a:rPr lang="en-US" smtClean="0"/>
              <a:t>1/24/2025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00317468"/>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1/24/2025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7292279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1/24/2025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359063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4AAD347D-5ACD-4C99-B74B-A9C85AD731AF}" type="datetimeFigureOut">
              <a:rPr lang="en-US" smtClean="0"/>
              <a:t>1/24/2025</a:t>
            </a:fld>
            <a:endParaRPr lang="en-US" dirty="0"/>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02111984F565}" type="slidenum">
              <a:rPr lang="en-US" smtClean="0"/>
              <a:t>‹#›</a:t>
            </a:fld>
            <a:endParaRPr lang="en-US" dirty="0"/>
          </a:p>
        </p:txBody>
      </p:sp>
    </p:spTree>
    <p:extLst>
      <p:ext uri="{BB962C8B-B14F-4D97-AF65-F5344CB8AC3E}">
        <p14:creationId xmlns:p14="http://schemas.microsoft.com/office/powerpoint/2010/main" val="223470621"/>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700" r:id="rId12"/>
    <p:sldLayoutId id="2147483701" r:id="rId13"/>
    <p:sldLayoutId id="2147483702" r:id="rId14"/>
    <p:sldLayoutId id="2147483703" r:id="rId15"/>
    <p:sldLayoutId id="2147483704" r:id="rId16"/>
    <p:sldLayoutId id="2147483705" r:id="rId17"/>
  </p:sldLayoutIdLst>
  <p:hf sldNum="0" hdr="0" ftr="0" dt="0"/>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3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913554" y="2428392"/>
            <a:ext cx="8364892" cy="834524"/>
          </a:xfrm>
          <a:prstGeom prst="rect">
            <a:avLst/>
          </a:prstGeom>
        </p:spPr>
        <p:txBody>
          <a:bodyPr wrap="square">
            <a:spAutoFit/>
          </a:bodyPr>
          <a:lstStyle/>
          <a:p>
            <a:pPr algn="ctr">
              <a:lnSpc>
                <a:spcPct val="150000"/>
              </a:lnSpc>
              <a:spcAft>
                <a:spcPts val="800"/>
              </a:spcAft>
            </a:pPr>
            <a:r>
              <a:rPr lang="en-IN" sz="36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AI Powered Online Recruitment </a:t>
            </a:r>
            <a:endParaRPr lang="en-IN" b="1"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6147318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958342" y="592574"/>
            <a:ext cx="928459" cy="369332"/>
          </a:xfrm>
          <a:prstGeom prst="rect">
            <a:avLst/>
          </a:prstGeom>
        </p:spPr>
        <p:txBody>
          <a:bodyPr wrap="none">
            <a:spAutoFit/>
          </a:bodyPr>
          <a:lstStyle/>
          <a:p>
            <a:r>
              <a:rPr lang="en-US" b="1" dirty="0">
                <a:latin typeface="Times New Roman" panose="02020603050405020304" pitchFamily="18" charset="0"/>
                <a:cs typeface="Times New Roman" panose="02020603050405020304" pitchFamily="18" charset="0"/>
              </a:rPr>
              <a:t>INDEX</a:t>
            </a:r>
            <a:endParaRPr lang="en-US" dirty="0"/>
          </a:p>
        </p:txBody>
      </p:sp>
      <p:sp>
        <p:nvSpPr>
          <p:cNvPr id="3" name="Rectangle 2"/>
          <p:cNvSpPr/>
          <p:nvPr/>
        </p:nvSpPr>
        <p:spPr>
          <a:xfrm>
            <a:off x="1092250" y="1110666"/>
            <a:ext cx="6096000" cy="4801314"/>
          </a:xfrm>
          <a:prstGeom prst="rect">
            <a:avLst/>
          </a:prstGeom>
        </p:spPr>
        <p:txBody>
          <a:bodyPr>
            <a:spAutoFit/>
          </a:bodyPr>
          <a:lstStyle/>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Abstract</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Objective of project</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Problem Statement</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Scope And Motivation</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Introduction</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Literature survey</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Existing Method</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Disadvantages</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Proposed method</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Advantages</a:t>
            </a:r>
          </a:p>
        </p:txBody>
      </p:sp>
      <p:sp>
        <p:nvSpPr>
          <p:cNvPr id="4" name="Rectangle 3"/>
          <p:cNvSpPr/>
          <p:nvPr/>
        </p:nvSpPr>
        <p:spPr>
          <a:xfrm>
            <a:off x="6096000" y="1212493"/>
            <a:ext cx="6096000" cy="4266809"/>
          </a:xfrm>
          <a:prstGeom prst="rect">
            <a:avLst/>
          </a:prstGeom>
        </p:spPr>
        <p:txBody>
          <a:bodyPr>
            <a:spAutoFit/>
          </a:bodyPr>
          <a:lstStyle/>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Project Flow</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Hardware and Software Requirements</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Architecture</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Modules</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UML Diagram</a:t>
            </a:r>
          </a:p>
          <a:p>
            <a:pPr lvl="2">
              <a:lnSpc>
                <a:spcPct val="170000"/>
              </a:lnSpc>
              <a:buFont typeface="Wingdings" panose="05000000000000000000" pitchFamily="2" charset="2"/>
              <a:buChar char="v"/>
            </a:pPr>
            <a:r>
              <a:rPr lang="en-US">
                <a:latin typeface="Times New Roman" panose="02020603050405020304" pitchFamily="18" charset="0"/>
                <a:cs typeface="Times New Roman" panose="02020603050405020304" pitchFamily="18" charset="0"/>
              </a:rPr>
              <a:t>Output Screens</a:t>
            </a:r>
            <a:endParaRPr lang="en-US" dirty="0">
              <a:latin typeface="Times New Roman" panose="02020603050405020304" pitchFamily="18" charset="0"/>
              <a:cs typeface="Times New Roman" panose="02020603050405020304" pitchFamily="18" charset="0"/>
            </a:endParaRP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Conclusion</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Future Work</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References</a:t>
            </a:r>
          </a:p>
        </p:txBody>
      </p:sp>
    </p:spTree>
    <p:extLst>
      <p:ext uri="{BB962C8B-B14F-4D97-AF65-F5344CB8AC3E}">
        <p14:creationId xmlns:p14="http://schemas.microsoft.com/office/powerpoint/2010/main" val="29967286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623062" y="683740"/>
            <a:ext cx="8596668" cy="755560"/>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ABSTRACT</a:t>
            </a:r>
          </a:p>
        </p:txBody>
      </p:sp>
      <p:sp>
        <p:nvSpPr>
          <p:cNvPr id="3" name="Rectangle 2"/>
          <p:cNvSpPr/>
          <p:nvPr/>
        </p:nvSpPr>
        <p:spPr>
          <a:xfrm>
            <a:off x="922350" y="1250861"/>
            <a:ext cx="10347300" cy="4923399"/>
          </a:xfrm>
          <a:prstGeom prst="rect">
            <a:avLst/>
          </a:prstGeom>
        </p:spPr>
        <p:txBody>
          <a:bodyPr wrap="square">
            <a:spAutoFit/>
          </a:bodyPr>
          <a:lstStyle/>
          <a:p>
            <a:pPr algn="just">
              <a:lnSpc>
                <a:spcPct val="150000"/>
              </a:lnSpc>
              <a:spcAft>
                <a:spcPts val="800"/>
              </a:spcAft>
            </a:pPr>
            <a:r>
              <a:rPr lang="en-US" sz="1700" dirty="0">
                <a:latin typeface="Times New Roman" panose="02020603050405020304" pitchFamily="18" charset="0"/>
                <a:ea typeface="Calibri" panose="020F0502020204030204" pitchFamily="34" charset="0"/>
                <a:cs typeface="Times New Roman" panose="02020603050405020304" pitchFamily="18" charset="0"/>
              </a:rPr>
              <a:t>Artificial Intelligence (AI) can play a pivotal role in the company recruiting process, facilitating excellence. This app faces challenges AI faces in the hiring process and the outcomes results of using AI in the hiring process. The benefits of using AI in the hiring process include identifying AI vendors and firms that have adopted AI in the hiring process, analyzing the present state of AI to facilitate the hiring process, and the impact of adopting AI in the hiring process. Through this app different perceptions, ideas, and opinions are presented to modulate the use of AI in human resource management. The findings indicate that AI is adopted mainly in high-tech or large companies. The reports presented by these companies on the use of AI thus do not provide an actual picture of the usage and step by step evaluation as interviews are still a part of the recruitment process providing space for human bias. The aspect of AI to support human resources in decision making, not a threat as AI is considered to take over the human roles in human resource management, should also be studied in detail</a:t>
            </a:r>
            <a:r>
              <a:rPr lang="en-US" dirty="0">
                <a:latin typeface="Times New Roman" panose="02020603050405020304" pitchFamily="18" charset="0"/>
                <a:ea typeface="Calibri" panose="020F0502020204030204" pitchFamily="34" charset="0"/>
                <a:cs typeface="Times New Roman" panose="02020603050405020304" pitchFamily="18" charset="0"/>
              </a:rPr>
              <a:t>.</a:t>
            </a:r>
          </a:p>
          <a:p>
            <a:pPr algn="just">
              <a:lnSpc>
                <a:spcPct val="150000"/>
              </a:lnSpc>
              <a:spcAft>
                <a:spcPts val="800"/>
              </a:spcAft>
            </a:pPr>
            <a:r>
              <a:rPr lang="en-US" b="1" dirty="0">
                <a:latin typeface="Times New Roman" panose="02020603050405020304" pitchFamily="18" charset="0"/>
                <a:ea typeface="Calibri" panose="020F0502020204030204" pitchFamily="34" charset="0"/>
                <a:cs typeface="Times New Roman" panose="02020603050405020304" pitchFamily="18" charset="0"/>
              </a:rPr>
              <a:t>Keywords</a:t>
            </a:r>
            <a:r>
              <a:rPr lang="en-US" dirty="0">
                <a:latin typeface="Times New Roman" panose="02020603050405020304" pitchFamily="18" charset="0"/>
                <a:ea typeface="Calibri" panose="020F0502020204030204" pitchFamily="34" charset="0"/>
                <a:cs typeface="Times New Roman" panose="02020603050405020304" pitchFamily="18" charset="0"/>
              </a:rPr>
              <a:t>: Artificial Intelligence (AI), Hiring process, Challenges, Outcomes, Adoption, Human resource management</a:t>
            </a:r>
          </a:p>
        </p:txBody>
      </p:sp>
    </p:spTree>
    <p:extLst>
      <p:ext uri="{BB962C8B-B14F-4D97-AF65-F5344CB8AC3E}">
        <p14:creationId xmlns:p14="http://schemas.microsoft.com/office/powerpoint/2010/main" val="19605521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353590" y="752642"/>
            <a:ext cx="8596668" cy="798491"/>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OBJECTIVE OF PROJECT</a:t>
            </a:r>
          </a:p>
        </p:txBody>
      </p:sp>
      <p:sp>
        <p:nvSpPr>
          <p:cNvPr id="4" name="TextBox 3">
            <a:extLst>
              <a:ext uri="{FF2B5EF4-FFF2-40B4-BE49-F238E27FC236}">
                <a16:creationId xmlns:a16="http://schemas.microsoft.com/office/drawing/2014/main" id="{83D8B131-C32A-0235-00ED-2F6C0CB85975}"/>
              </a:ext>
            </a:extLst>
          </p:cNvPr>
          <p:cNvSpPr txBox="1"/>
          <p:nvPr/>
        </p:nvSpPr>
        <p:spPr>
          <a:xfrm>
            <a:off x="1196454" y="2363756"/>
            <a:ext cx="9799092" cy="3371885"/>
          </a:xfrm>
          <a:prstGeom prst="rect">
            <a:avLst/>
          </a:prstGeom>
          <a:noFill/>
        </p:spPr>
        <p:txBody>
          <a:bodyPr wrap="square">
            <a:spAutoFit/>
          </a:bodyPr>
          <a:lstStyle/>
          <a:p>
            <a:pPr algn="just">
              <a:lnSpc>
                <a:spcPct val="150000"/>
              </a:lnSpc>
              <a:spcAft>
                <a:spcPts val="800"/>
              </a:spcAft>
            </a:pPr>
            <a:r>
              <a:rPr lang="en-US" dirty="0">
                <a:latin typeface="Times New Roman" panose="02020603050405020304" pitchFamily="18" charset="0"/>
                <a:ea typeface="Calibri" panose="020F0502020204030204" pitchFamily="34" charset="0"/>
                <a:cs typeface="Times New Roman" panose="02020603050405020304" pitchFamily="18" charset="0"/>
              </a:rPr>
              <a:t>The objective of this abstract is to provide a comprehensive overview of the use of AI in the hiring process. It aims to explore the challenges and outcomes associated with AI adoption, while highlighting the benefits it brings to recruitment. The abstract also seeks to present diverse perspectives on AI in human resource management, emphasizing the need for a balanced approach to address biases and support decision-making. It recognizes the prevalent utilization of AI in high-tech or large companies but raises concerns about the limited evaluation due to the continued reliance on interviews. Ultimately, the objective is to foster a deeper understanding of AI's role in recruiting and its potential to drive excellence in human resource management</a:t>
            </a:r>
            <a:r>
              <a:rPr lang="en-IN" dirty="0">
                <a:latin typeface="Times New Roman" panose="02020603050405020304" pitchFamily="18" charset="0"/>
                <a:ea typeface="Calibri" panose="020F0502020204030204" pitchFamily="34" charset="0"/>
                <a:cs typeface="Times New Roman" panose="02020603050405020304" pitchFamily="18" charset="0"/>
              </a:rPr>
              <a:t>.</a:t>
            </a:r>
            <a:endParaRPr lang="en-IN" sz="16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1318951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606587" y="83202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PROBLEM STATEMENT</a:t>
            </a:r>
          </a:p>
        </p:txBody>
      </p:sp>
      <p:sp>
        <p:nvSpPr>
          <p:cNvPr id="5" name="TextBox 4">
            <a:extLst>
              <a:ext uri="{FF2B5EF4-FFF2-40B4-BE49-F238E27FC236}">
                <a16:creationId xmlns:a16="http://schemas.microsoft.com/office/drawing/2014/main" id="{95B58230-1704-28A2-A524-3557D8B7BBEB}"/>
              </a:ext>
            </a:extLst>
          </p:cNvPr>
          <p:cNvSpPr txBox="1"/>
          <p:nvPr/>
        </p:nvSpPr>
        <p:spPr>
          <a:xfrm>
            <a:off x="1351128" y="2919722"/>
            <a:ext cx="9735971" cy="1709892"/>
          </a:xfrm>
          <a:prstGeom prst="rect">
            <a:avLst/>
          </a:prstGeom>
          <a:noFill/>
        </p:spPr>
        <p:txBody>
          <a:bodyPr wrap="square">
            <a:spAutoFit/>
          </a:bodyPr>
          <a:lstStyle/>
          <a:p>
            <a:pPr algn="just">
              <a:lnSpc>
                <a:spcPct val="150000"/>
              </a:lnSpc>
              <a:spcAft>
                <a:spcPts val="800"/>
              </a:spcAft>
            </a:pPr>
            <a:r>
              <a:rPr lang="en-US" dirty="0">
                <a:latin typeface="Times New Roman" panose="02020603050405020304" pitchFamily="18" charset="0"/>
                <a:ea typeface="Calibri" panose="020F0502020204030204" pitchFamily="34" charset="0"/>
                <a:cs typeface="Times New Roman" panose="02020603050405020304" pitchFamily="18" charset="0"/>
              </a:rPr>
              <a:t>AI adoption in recruitment faces challenges, including incomplete integration and reliance on human biases in the hiring process. Despite being used in large and high-tech companies, the actual impact of AI is unclear, with interviews still playing a major role. A detailed understanding of AI's role in decision-making and bias reduction is essential</a:t>
            </a:r>
            <a:r>
              <a:rPr lang="en-IN" dirty="0">
                <a:latin typeface="Times New Roman" panose="02020603050405020304" pitchFamily="18" charset="0"/>
                <a:ea typeface="Calibri" panose="020F0502020204030204" pitchFamily="34" charset="0"/>
                <a:cs typeface="Times New Roman" panose="02020603050405020304" pitchFamily="18" charset="0"/>
              </a:rPr>
              <a:t>.</a:t>
            </a:r>
            <a:endParaRPr lang="en-IN" sz="16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8457841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409782" y="826946"/>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SCOPE</a:t>
            </a:r>
          </a:p>
        </p:txBody>
      </p:sp>
      <p:sp>
        <p:nvSpPr>
          <p:cNvPr id="4" name="Rectangle 3"/>
          <p:cNvSpPr/>
          <p:nvPr/>
        </p:nvSpPr>
        <p:spPr>
          <a:xfrm>
            <a:off x="1107583" y="1928590"/>
            <a:ext cx="9620518" cy="987706"/>
          </a:xfrm>
          <a:prstGeom prst="rect">
            <a:avLst/>
          </a:prstGeom>
        </p:spPr>
        <p:txBody>
          <a:bodyPr wrap="square">
            <a:spAutoFit/>
          </a:bodyPr>
          <a:lstStyle/>
          <a:p>
            <a:pPr algn="just">
              <a:lnSpc>
                <a:spcPct val="150000"/>
              </a:lnSpc>
              <a:spcAft>
                <a:spcPts val="800"/>
              </a:spcAft>
            </a:pPr>
            <a:endParaRPr lang="en-IN" sz="2000" dirty="0">
              <a:effectLst/>
              <a:latin typeface="Times New Roman" panose="02020603050405020304" pitchFamily="18" charset="0"/>
              <a:ea typeface="Times New Roman" panose="02020603050405020304" pitchFamily="18" charset="0"/>
            </a:endParaRPr>
          </a:p>
          <a:p>
            <a:pPr algn="just">
              <a:lnSpc>
                <a:spcPct val="150000"/>
              </a:lnSpc>
              <a:spcAft>
                <a:spcPts val="800"/>
              </a:spcAft>
            </a:pP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7D296B6E-1EE3-5398-9F75-7539EFA417D0}"/>
              </a:ext>
            </a:extLst>
          </p:cNvPr>
          <p:cNvSpPr txBox="1"/>
          <p:nvPr/>
        </p:nvSpPr>
        <p:spPr>
          <a:xfrm>
            <a:off x="1123666" y="2858572"/>
            <a:ext cx="9960751" cy="2740750"/>
          </a:xfrm>
          <a:prstGeom prst="rect">
            <a:avLst/>
          </a:prstGeom>
          <a:noFill/>
        </p:spPr>
        <p:txBody>
          <a:bodyPr wrap="square">
            <a:spAutoFit/>
          </a:bodyPr>
          <a:lstStyle/>
          <a:p>
            <a:pPr algn="just">
              <a:lnSpc>
                <a:spcPct val="150000"/>
              </a:lnSpc>
              <a:spcAft>
                <a:spcPts val="800"/>
              </a:spcAft>
            </a:pPr>
            <a:r>
              <a:rPr lang="en-US" dirty="0">
                <a:latin typeface="Times New Roman" panose="02020603050405020304" pitchFamily="18" charset="0"/>
                <a:ea typeface="Calibri" panose="020F0502020204030204" pitchFamily="34" charset="0"/>
                <a:cs typeface="Times New Roman" panose="02020603050405020304" pitchFamily="18" charset="0"/>
              </a:rPr>
              <a:t>This app investigates the use of Artificial Intelligence (AI) in the recruitment process, focusing on its benefits, challenges, and impact on hiring outcomes. It analyzes AI adoption by companies, identifies AI vendors, and evaluates how AI affects human resource decisions. The app provides insights into AI's potential role in improving recruitment practices and reducing bias</a:t>
            </a:r>
            <a:r>
              <a:rPr lang="en-IN" dirty="0">
                <a:latin typeface="Times New Roman" panose="02020603050405020304" pitchFamily="18" charset="0"/>
                <a:ea typeface="Calibri" panose="020F0502020204030204" pitchFamily="34" charset="0"/>
                <a:cs typeface="Times New Roman" panose="02020603050405020304" pitchFamily="18" charset="0"/>
              </a:rPr>
              <a:t>.</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US" dirty="0">
                <a:latin typeface="Times New Roman" panose="02020603050405020304" pitchFamily="18" charset="0"/>
                <a:ea typeface="Calibri" panose="020F0502020204030204" pitchFamily="34" charset="0"/>
                <a:cs typeface="Times New Roman" panose="02020603050405020304" pitchFamily="18" charset="0"/>
              </a:rPr>
              <a:t>.</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570071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647776" y="81442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MOTIVATION</a:t>
            </a:r>
          </a:p>
        </p:txBody>
      </p:sp>
      <p:sp>
        <p:nvSpPr>
          <p:cNvPr id="4" name="TextBox 3">
            <a:extLst>
              <a:ext uri="{FF2B5EF4-FFF2-40B4-BE49-F238E27FC236}">
                <a16:creationId xmlns:a16="http://schemas.microsoft.com/office/drawing/2014/main" id="{118458AA-7756-2A16-9C04-13AEA1812C6D}"/>
              </a:ext>
            </a:extLst>
          </p:cNvPr>
          <p:cNvSpPr txBox="1"/>
          <p:nvPr/>
        </p:nvSpPr>
        <p:spPr>
          <a:xfrm>
            <a:off x="1401548" y="2770293"/>
            <a:ext cx="9816120" cy="1709892"/>
          </a:xfrm>
          <a:prstGeom prst="rect">
            <a:avLst/>
          </a:prstGeom>
          <a:noFill/>
        </p:spPr>
        <p:txBody>
          <a:bodyPr wrap="square">
            <a:spAutoFit/>
          </a:bodyPr>
          <a:lstStyle/>
          <a:p>
            <a:pPr algn="just">
              <a:lnSpc>
                <a:spcPct val="150000"/>
              </a:lnSpc>
              <a:spcAft>
                <a:spcPts val="800"/>
              </a:spcAft>
            </a:pPr>
            <a:r>
              <a:rPr 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The motivation behind this project is to explore how AI can revolutionize the recruitment process by making it more efficient, fair, and less biased. By investigating AI adoption in hiring, this project aims to understand its challenges and benefits, ultimately providing insights that can improve hiring practices, reduce human biases, and enhance decision-making in human resource management</a:t>
            </a:r>
            <a:r>
              <a:rPr lang="en-IN"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t>
            </a:r>
            <a:endParaRPr lang="en-IN" sz="16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5279796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672490" y="591998"/>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INTRODUCTION</a:t>
            </a:r>
          </a:p>
        </p:txBody>
      </p:sp>
      <p:sp>
        <p:nvSpPr>
          <p:cNvPr id="5" name="TextBox 4">
            <a:extLst>
              <a:ext uri="{FF2B5EF4-FFF2-40B4-BE49-F238E27FC236}">
                <a16:creationId xmlns:a16="http://schemas.microsoft.com/office/drawing/2014/main" id="{9C70EFC5-668D-84C6-15B6-208E5BA4DB83}"/>
              </a:ext>
            </a:extLst>
          </p:cNvPr>
          <p:cNvSpPr txBox="1"/>
          <p:nvPr/>
        </p:nvSpPr>
        <p:spPr>
          <a:xfrm>
            <a:off x="743045" y="2516790"/>
            <a:ext cx="10705910" cy="2120068"/>
          </a:xfrm>
          <a:prstGeom prst="rect">
            <a:avLst/>
          </a:prstGeom>
          <a:noFill/>
        </p:spPr>
        <p:txBody>
          <a:bodyPr wrap="square">
            <a:spAutoFit/>
          </a:bodyPr>
          <a:lstStyle/>
          <a:p>
            <a:pPr algn="just">
              <a:lnSpc>
                <a:spcPct val="150000"/>
              </a:lnSpc>
              <a:spcAft>
                <a:spcPts val="800"/>
              </a:spcAft>
            </a:pPr>
            <a:r>
              <a:rPr 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Artificial Intelligence (AI) has emerged as a transformative technology across various industries, and the field of human resource management is no exception. In recent years, AI has increasingly played a pivotal role in the company recruiting process, revolutionizing the way organizations attract and select talent. By leveraging AI-powered tools and algorithms, companies aim to enhance efficiency, accuracy, and fairness in their hiring practices. However, the integration of AI in the hiring process is not without its challenges. </a:t>
            </a:r>
          </a:p>
        </p:txBody>
      </p:sp>
    </p:spTree>
    <p:extLst>
      <p:ext uri="{BB962C8B-B14F-4D97-AF65-F5344CB8AC3E}">
        <p14:creationId xmlns:p14="http://schemas.microsoft.com/office/powerpoint/2010/main" val="29112790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441830" y="255371"/>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LITERATURE SURVEY</a:t>
            </a:r>
          </a:p>
        </p:txBody>
      </p:sp>
      <p:graphicFrame>
        <p:nvGraphicFramePr>
          <p:cNvPr id="5" name="Table 4">
            <a:extLst>
              <a:ext uri="{FF2B5EF4-FFF2-40B4-BE49-F238E27FC236}">
                <a16:creationId xmlns:a16="http://schemas.microsoft.com/office/drawing/2014/main" id="{6BBA804A-39A0-4E4B-9435-E1E0596F663B}"/>
              </a:ext>
            </a:extLst>
          </p:cNvPr>
          <p:cNvGraphicFramePr>
            <a:graphicFrameLocks noGrp="1"/>
          </p:cNvGraphicFramePr>
          <p:nvPr>
            <p:extLst>
              <p:ext uri="{D42A27DB-BD31-4B8C-83A1-F6EECF244321}">
                <p14:modId xmlns:p14="http://schemas.microsoft.com/office/powerpoint/2010/main" val="3067379933"/>
              </p:ext>
            </p:extLst>
          </p:nvPr>
        </p:nvGraphicFramePr>
        <p:xfrm>
          <a:off x="887895" y="1470991"/>
          <a:ext cx="10429460" cy="4572001"/>
        </p:xfrm>
        <a:graphic>
          <a:graphicData uri="http://schemas.openxmlformats.org/drawingml/2006/table">
            <a:tbl>
              <a:tblPr>
                <a:tableStyleId>{5940675A-B579-460E-94D1-54222C63F5DA}</a:tableStyleId>
              </a:tblPr>
              <a:tblGrid>
                <a:gridCol w="1179444">
                  <a:extLst>
                    <a:ext uri="{9D8B030D-6E8A-4147-A177-3AD203B41FA5}">
                      <a16:colId xmlns:a16="http://schemas.microsoft.com/office/drawing/2014/main" val="3926966284"/>
                    </a:ext>
                  </a:extLst>
                </a:gridCol>
                <a:gridCol w="2703444">
                  <a:extLst>
                    <a:ext uri="{9D8B030D-6E8A-4147-A177-3AD203B41FA5}">
                      <a16:colId xmlns:a16="http://schemas.microsoft.com/office/drawing/2014/main" val="290848420"/>
                    </a:ext>
                  </a:extLst>
                </a:gridCol>
                <a:gridCol w="2981739">
                  <a:extLst>
                    <a:ext uri="{9D8B030D-6E8A-4147-A177-3AD203B41FA5}">
                      <a16:colId xmlns:a16="http://schemas.microsoft.com/office/drawing/2014/main" val="3005873471"/>
                    </a:ext>
                  </a:extLst>
                </a:gridCol>
                <a:gridCol w="3564833">
                  <a:extLst>
                    <a:ext uri="{9D8B030D-6E8A-4147-A177-3AD203B41FA5}">
                      <a16:colId xmlns:a16="http://schemas.microsoft.com/office/drawing/2014/main" val="2636201928"/>
                    </a:ext>
                  </a:extLst>
                </a:gridCol>
              </a:tblGrid>
              <a:tr h="228600">
                <a:tc>
                  <a:txBody>
                    <a:bodyPr/>
                    <a:lstStyle/>
                    <a:p>
                      <a:pPr algn="ctr"/>
                      <a:r>
                        <a:rPr lang="en-IN" sz="1200" b="1" dirty="0">
                          <a:latin typeface="Times New Roman" panose="02020603050405020304" pitchFamily="18" charset="0"/>
                          <a:cs typeface="Times New Roman" panose="02020603050405020304" pitchFamily="18" charset="0"/>
                        </a:rPr>
                        <a:t>Serial No.</a:t>
                      </a:r>
                    </a:p>
                  </a:txBody>
                  <a:tcPr marL="41473" marR="41473" marT="20737" marB="20737" anchor="ctr"/>
                </a:tc>
                <a:tc>
                  <a:txBody>
                    <a:bodyPr/>
                    <a:lstStyle/>
                    <a:p>
                      <a:pPr algn="ctr"/>
                      <a:r>
                        <a:rPr lang="en-IN" sz="1200" b="1" dirty="0">
                          <a:latin typeface="Times New Roman" panose="02020603050405020304" pitchFamily="18" charset="0"/>
                          <a:cs typeface="Times New Roman" panose="02020603050405020304" pitchFamily="18" charset="0"/>
                        </a:rPr>
                        <a:t>Authors</a:t>
                      </a:r>
                    </a:p>
                  </a:txBody>
                  <a:tcPr marL="41473" marR="41473" marT="20737" marB="20737" anchor="ctr"/>
                </a:tc>
                <a:tc>
                  <a:txBody>
                    <a:bodyPr/>
                    <a:lstStyle/>
                    <a:p>
                      <a:pPr algn="ctr"/>
                      <a:r>
                        <a:rPr lang="en-IN" sz="1200" b="1">
                          <a:latin typeface="Times New Roman" panose="02020603050405020304" pitchFamily="18" charset="0"/>
                          <a:cs typeface="Times New Roman" panose="02020603050405020304" pitchFamily="18" charset="0"/>
                        </a:rPr>
                        <a:t>Title</a:t>
                      </a:r>
                    </a:p>
                  </a:txBody>
                  <a:tcPr marL="41473" marR="41473" marT="20737" marB="20737" anchor="ctr"/>
                </a:tc>
                <a:tc>
                  <a:txBody>
                    <a:bodyPr/>
                    <a:lstStyle/>
                    <a:p>
                      <a:pPr algn="ctr"/>
                      <a:r>
                        <a:rPr lang="en-IN" sz="1200" b="1" dirty="0">
                          <a:latin typeface="Times New Roman" panose="02020603050405020304" pitchFamily="18" charset="0"/>
                          <a:cs typeface="Times New Roman" panose="02020603050405020304" pitchFamily="18" charset="0"/>
                        </a:rPr>
                        <a:t>Outcome</a:t>
                      </a:r>
                    </a:p>
                  </a:txBody>
                  <a:tcPr marL="41473" marR="41473" marT="20737" marB="20737" anchor="ctr"/>
                </a:tc>
                <a:extLst>
                  <a:ext uri="{0D108BD9-81ED-4DB2-BD59-A6C34878D82A}">
                    <a16:rowId xmlns:a16="http://schemas.microsoft.com/office/drawing/2014/main" val="705557865"/>
                  </a:ext>
                </a:extLst>
              </a:tr>
              <a:tr h="1257301">
                <a:tc>
                  <a:txBody>
                    <a:bodyPr/>
                    <a:lstStyle/>
                    <a:p>
                      <a:pPr algn="ctr"/>
                      <a:r>
                        <a:rPr lang="en-IN" sz="1200" dirty="0">
                          <a:latin typeface="Times New Roman" panose="02020603050405020304" pitchFamily="18" charset="0"/>
                          <a:cs typeface="Times New Roman" panose="02020603050405020304" pitchFamily="18" charset="0"/>
                        </a:rPr>
                        <a:t>1</a:t>
                      </a:r>
                    </a:p>
                  </a:txBody>
                  <a:tcPr marL="41473" marR="41473" marT="20737" marB="20737" anchor="ctr"/>
                </a:tc>
                <a:tc>
                  <a:txBody>
                    <a:bodyPr/>
                    <a:lstStyle/>
                    <a:p>
                      <a:pPr algn="ctr"/>
                      <a:r>
                        <a:rPr lang="fi-FI" sz="1200" dirty="0">
                          <a:latin typeface="Times New Roman" panose="02020603050405020304" pitchFamily="18" charset="0"/>
                          <a:cs typeface="Times New Roman" panose="02020603050405020304" pitchFamily="18" charset="0"/>
                        </a:rPr>
                        <a:t>Sujoy Sen, Sanjeev Kadam, V.V. Ravi Kumar</a:t>
                      </a:r>
                    </a:p>
                  </a:txBody>
                  <a:tcPr marL="41473" marR="41473" marT="20737" marB="20737" anchor="ctr"/>
                </a:tc>
                <a:tc>
                  <a:txBody>
                    <a:bodyPr/>
                    <a:lstStyle/>
                    <a:p>
                      <a:pPr algn="ctr"/>
                      <a:r>
                        <a:rPr lang="en-US" sz="1200" dirty="0">
                          <a:latin typeface="Times New Roman" panose="02020603050405020304" pitchFamily="18" charset="0"/>
                          <a:cs typeface="Times New Roman" panose="02020603050405020304" pitchFamily="18" charset="0"/>
                        </a:rPr>
                        <a:t>Role of Artificial Intelligence-Enabled Recruitment Processes in Sourcing Talent</a:t>
                      </a:r>
                    </a:p>
                  </a:txBody>
                  <a:tcPr marL="41473" marR="41473" marT="20737" marB="20737" anchor="ctr"/>
                </a:tc>
                <a:tc>
                  <a:txBody>
                    <a:bodyPr/>
                    <a:lstStyle/>
                    <a:p>
                      <a:pPr algn="just"/>
                      <a:r>
                        <a:rPr lang="en-US" sz="1200" dirty="0">
                          <a:latin typeface="Times New Roman" panose="02020603050405020304" pitchFamily="18" charset="0"/>
                          <a:cs typeface="Times New Roman" panose="02020603050405020304" pitchFamily="18" charset="0"/>
                        </a:rPr>
                        <a:t>AI recruitment is evolving from a supporting tool to a key business asset, improving recruitment efficiency and time savings.</a:t>
                      </a:r>
                    </a:p>
                  </a:txBody>
                  <a:tcPr marL="41473" marR="41473" marT="20737" marB="20737" anchor="ctr"/>
                </a:tc>
                <a:extLst>
                  <a:ext uri="{0D108BD9-81ED-4DB2-BD59-A6C34878D82A}">
                    <a16:rowId xmlns:a16="http://schemas.microsoft.com/office/drawing/2014/main" val="711136831"/>
                  </a:ext>
                </a:extLst>
              </a:tr>
              <a:tr h="914400">
                <a:tc>
                  <a:txBody>
                    <a:bodyPr/>
                    <a:lstStyle/>
                    <a:p>
                      <a:pPr algn="ctr"/>
                      <a:r>
                        <a:rPr lang="en-IN" sz="1200" dirty="0">
                          <a:latin typeface="Times New Roman" panose="02020603050405020304" pitchFamily="18" charset="0"/>
                          <a:cs typeface="Times New Roman" panose="02020603050405020304" pitchFamily="18" charset="0"/>
                        </a:rPr>
                        <a:t>2</a:t>
                      </a:r>
                    </a:p>
                  </a:txBody>
                  <a:tcPr marL="41473" marR="41473" marT="20737" marB="20737" anchor="ctr"/>
                </a:tc>
                <a:tc>
                  <a:txBody>
                    <a:bodyPr/>
                    <a:lstStyle/>
                    <a:p>
                      <a:pPr algn="ctr"/>
                      <a:r>
                        <a:rPr lang="en-IN" sz="1200" dirty="0" err="1">
                          <a:latin typeface="Times New Roman" panose="02020603050405020304" pitchFamily="18" charset="0"/>
                          <a:cs typeface="Times New Roman" panose="02020603050405020304" pitchFamily="18" charset="0"/>
                        </a:rPr>
                        <a:t>Beneduce</a:t>
                      </a:r>
                      <a:endParaRPr lang="en-IN" sz="1200" dirty="0">
                        <a:latin typeface="Times New Roman" panose="02020603050405020304" pitchFamily="18" charset="0"/>
                        <a:cs typeface="Times New Roman" panose="02020603050405020304" pitchFamily="18" charset="0"/>
                      </a:endParaRPr>
                    </a:p>
                  </a:txBody>
                  <a:tcPr marL="41473" marR="41473" marT="20737" marB="20737" anchor="ctr"/>
                </a:tc>
                <a:tc>
                  <a:txBody>
                    <a:bodyPr/>
                    <a:lstStyle/>
                    <a:p>
                      <a:pPr algn="ctr"/>
                      <a:r>
                        <a:rPr lang="en-US" sz="1200">
                          <a:latin typeface="Times New Roman" panose="02020603050405020304" pitchFamily="18" charset="0"/>
                          <a:cs typeface="Times New Roman" panose="02020603050405020304" pitchFamily="18" charset="0"/>
                        </a:rPr>
                        <a:t>Artificial Intelligence in Recruitment: Just Because It’s Biased, Does It Mean It’s Bad?</a:t>
                      </a:r>
                    </a:p>
                  </a:txBody>
                  <a:tcPr marL="41473" marR="41473" marT="20737" marB="20737" anchor="ctr"/>
                </a:tc>
                <a:tc>
                  <a:txBody>
                    <a:bodyPr/>
                    <a:lstStyle/>
                    <a:p>
                      <a:pPr algn="just"/>
                      <a:r>
                        <a:rPr lang="en-US" sz="1200" dirty="0">
                          <a:latin typeface="Times New Roman" panose="02020603050405020304" pitchFamily="18" charset="0"/>
                          <a:cs typeface="Times New Roman" panose="02020603050405020304" pitchFamily="18" charset="0"/>
                        </a:rPr>
                        <a:t>AI in recruitment offers benefits, but concerns over bias hinder its widespread adoption despite its potential.</a:t>
                      </a:r>
                    </a:p>
                  </a:txBody>
                  <a:tcPr marL="41473" marR="41473" marT="20737" marB="20737" anchor="ctr"/>
                </a:tc>
                <a:extLst>
                  <a:ext uri="{0D108BD9-81ED-4DB2-BD59-A6C34878D82A}">
                    <a16:rowId xmlns:a16="http://schemas.microsoft.com/office/drawing/2014/main" val="3975844537"/>
                  </a:ext>
                </a:extLst>
              </a:tr>
              <a:tr h="1085850">
                <a:tc>
                  <a:txBody>
                    <a:bodyPr/>
                    <a:lstStyle/>
                    <a:p>
                      <a:pPr algn="ctr"/>
                      <a:r>
                        <a:rPr lang="en-IN" sz="1200">
                          <a:latin typeface="Times New Roman" panose="02020603050405020304" pitchFamily="18" charset="0"/>
                          <a:cs typeface="Times New Roman" panose="02020603050405020304" pitchFamily="18" charset="0"/>
                        </a:rPr>
                        <a:t>3</a:t>
                      </a:r>
                    </a:p>
                  </a:txBody>
                  <a:tcPr marL="41473" marR="41473" marT="20737" marB="20737" anchor="ctr"/>
                </a:tc>
                <a:tc>
                  <a:txBody>
                    <a:bodyPr/>
                    <a:lstStyle/>
                    <a:p>
                      <a:pPr algn="ctr"/>
                      <a:r>
                        <a:rPr lang="en-IN" sz="1200" dirty="0" err="1">
                          <a:latin typeface="Times New Roman" panose="02020603050405020304" pitchFamily="18" charset="0"/>
                          <a:cs typeface="Times New Roman" panose="02020603050405020304" pitchFamily="18" charset="0"/>
                        </a:rPr>
                        <a:t>Brishti</a:t>
                      </a:r>
                      <a:r>
                        <a:rPr lang="en-IN" sz="1200" dirty="0">
                          <a:latin typeface="Times New Roman" panose="02020603050405020304" pitchFamily="18" charset="0"/>
                          <a:cs typeface="Times New Roman" panose="02020603050405020304" pitchFamily="18" charset="0"/>
                        </a:rPr>
                        <a:t>, J.K., &amp; </a:t>
                      </a:r>
                      <a:r>
                        <a:rPr lang="en-IN" sz="1200" dirty="0" err="1">
                          <a:latin typeface="Times New Roman" panose="02020603050405020304" pitchFamily="18" charset="0"/>
                          <a:cs typeface="Times New Roman" panose="02020603050405020304" pitchFamily="18" charset="0"/>
                        </a:rPr>
                        <a:t>Javed</a:t>
                      </a:r>
                      <a:r>
                        <a:rPr lang="en-IN" sz="1200" dirty="0">
                          <a:latin typeface="Times New Roman" panose="02020603050405020304" pitchFamily="18" charset="0"/>
                          <a:cs typeface="Times New Roman" panose="02020603050405020304" pitchFamily="18" charset="0"/>
                        </a:rPr>
                        <a:t>. A</a:t>
                      </a:r>
                    </a:p>
                  </a:txBody>
                  <a:tcPr marL="41473" marR="41473" marT="20737" marB="20737" anchor="ctr"/>
                </a:tc>
                <a:tc>
                  <a:txBody>
                    <a:bodyPr/>
                    <a:lstStyle/>
                    <a:p>
                      <a:pPr algn="ctr"/>
                      <a:r>
                        <a:rPr lang="en-US" sz="1200" dirty="0">
                          <a:latin typeface="Times New Roman" panose="02020603050405020304" pitchFamily="18" charset="0"/>
                          <a:cs typeface="Times New Roman" panose="02020603050405020304" pitchFamily="18" charset="0"/>
                        </a:rPr>
                        <a:t>Application of Artificial Intelligence for Recruitment in Manufacturing Industries</a:t>
                      </a:r>
                    </a:p>
                  </a:txBody>
                  <a:tcPr marL="41473" marR="41473" marT="20737" marB="20737" anchor="ctr"/>
                </a:tc>
                <a:tc>
                  <a:txBody>
                    <a:bodyPr/>
                    <a:lstStyle/>
                    <a:p>
                      <a:pPr algn="just"/>
                      <a:r>
                        <a:rPr lang="en-US" sz="1200" dirty="0">
                          <a:latin typeface="Times New Roman" panose="02020603050405020304" pitchFamily="18" charset="0"/>
                          <a:cs typeface="Times New Roman" panose="02020603050405020304" pitchFamily="18" charset="0"/>
                        </a:rPr>
                        <a:t>AI and automation in recruitment help manufacturing industries hire talent more efficiently, reducing costs and time.</a:t>
                      </a:r>
                    </a:p>
                  </a:txBody>
                  <a:tcPr marL="41473" marR="41473" marT="20737" marB="20737" anchor="ctr"/>
                </a:tc>
                <a:extLst>
                  <a:ext uri="{0D108BD9-81ED-4DB2-BD59-A6C34878D82A}">
                    <a16:rowId xmlns:a16="http://schemas.microsoft.com/office/drawing/2014/main" val="2590659470"/>
                  </a:ext>
                </a:extLst>
              </a:tr>
              <a:tr h="1085850">
                <a:tc>
                  <a:txBody>
                    <a:bodyPr/>
                    <a:lstStyle/>
                    <a:p>
                      <a:pPr algn="ctr"/>
                      <a:r>
                        <a:rPr lang="en-IN" sz="1200">
                          <a:latin typeface="Times New Roman" panose="02020603050405020304" pitchFamily="18" charset="0"/>
                          <a:cs typeface="Times New Roman" panose="02020603050405020304" pitchFamily="18" charset="0"/>
                        </a:rPr>
                        <a:t>4</a:t>
                      </a:r>
                    </a:p>
                  </a:txBody>
                  <a:tcPr marL="41473" marR="41473" marT="20737" marB="20737" anchor="ctr"/>
                </a:tc>
                <a:tc>
                  <a:txBody>
                    <a:bodyPr/>
                    <a:lstStyle/>
                    <a:p>
                      <a:pPr algn="ctr"/>
                      <a:r>
                        <a:rPr lang="en-IN" sz="1200" dirty="0" err="1">
                          <a:latin typeface="Times New Roman" panose="02020603050405020304" pitchFamily="18" charset="0"/>
                          <a:cs typeface="Times New Roman" panose="02020603050405020304" pitchFamily="18" charset="0"/>
                        </a:rPr>
                        <a:t>Madia</a:t>
                      </a:r>
                      <a:r>
                        <a:rPr lang="en-IN" sz="1200" dirty="0">
                          <a:latin typeface="Times New Roman" panose="02020603050405020304" pitchFamily="18" charset="0"/>
                          <a:cs typeface="Times New Roman" panose="02020603050405020304" pitchFamily="18" charset="0"/>
                        </a:rPr>
                        <a:t>, S.A.</a:t>
                      </a:r>
                    </a:p>
                  </a:txBody>
                  <a:tcPr marL="41473" marR="41473" marT="20737" marB="20737" anchor="ctr"/>
                </a:tc>
                <a:tc>
                  <a:txBody>
                    <a:bodyPr/>
                    <a:lstStyle/>
                    <a:p>
                      <a:pPr algn="ctr"/>
                      <a:r>
                        <a:rPr lang="en-US" sz="1200" dirty="0">
                          <a:latin typeface="Times New Roman" panose="02020603050405020304" pitchFamily="18" charset="0"/>
                          <a:cs typeface="Times New Roman" panose="02020603050405020304" pitchFamily="18" charset="0"/>
                        </a:rPr>
                        <a:t>Best Practices for Using Social Media as a Recruitment Strategy</a:t>
                      </a:r>
                    </a:p>
                  </a:txBody>
                  <a:tcPr marL="41473" marR="41473" marT="20737" marB="20737" anchor="ctr"/>
                </a:tc>
                <a:tc>
                  <a:txBody>
                    <a:bodyPr/>
                    <a:lstStyle/>
                    <a:p>
                      <a:pPr algn="just"/>
                      <a:r>
                        <a:rPr lang="en-US" sz="1200" dirty="0">
                          <a:latin typeface="Times New Roman" panose="02020603050405020304" pitchFamily="18" charset="0"/>
                          <a:cs typeface="Times New Roman" panose="02020603050405020304" pitchFamily="18" charset="0"/>
                        </a:rPr>
                        <a:t>Examines social media recruitment best practices and emphasizes the importance of a strategy, content, and policies.</a:t>
                      </a:r>
                    </a:p>
                  </a:txBody>
                  <a:tcPr marL="41473" marR="41473" marT="20737" marB="20737" anchor="ctr"/>
                </a:tc>
                <a:extLst>
                  <a:ext uri="{0D108BD9-81ED-4DB2-BD59-A6C34878D82A}">
                    <a16:rowId xmlns:a16="http://schemas.microsoft.com/office/drawing/2014/main" val="3944800306"/>
                  </a:ext>
                </a:extLst>
              </a:tr>
            </a:tbl>
          </a:graphicData>
        </a:graphic>
      </p:graphicFrame>
    </p:spTree>
    <p:extLst>
      <p:ext uri="{BB962C8B-B14F-4D97-AF65-F5344CB8AC3E}">
        <p14:creationId xmlns:p14="http://schemas.microsoft.com/office/powerpoint/2010/main" val="26284639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6762" y="1190445"/>
            <a:ext cx="10597720" cy="526212"/>
          </a:xfrm>
        </p:spPr>
        <p:txBody>
          <a:bodyPr>
            <a:normAutofit/>
          </a:bodyPr>
          <a:lstStyle/>
          <a:p>
            <a:pPr algn="ctr"/>
            <a:r>
              <a:rPr lang="en-US" sz="2400" b="1" dirty="0">
                <a:latin typeface="Times New Roman" panose="02020603050405020304" pitchFamily="18" charset="0"/>
                <a:cs typeface="Times New Roman" panose="02020603050405020304" pitchFamily="18" charset="0"/>
              </a:rPr>
              <a:t>Existing method:</a:t>
            </a:r>
          </a:p>
        </p:txBody>
      </p:sp>
      <p:sp>
        <p:nvSpPr>
          <p:cNvPr id="3" name="Content Placeholder 2"/>
          <p:cNvSpPr>
            <a:spLocks noGrp="1"/>
          </p:cNvSpPr>
          <p:nvPr>
            <p:ph idx="1"/>
          </p:nvPr>
        </p:nvSpPr>
        <p:spPr>
          <a:xfrm>
            <a:off x="1143000" y="2583180"/>
            <a:ext cx="9253603" cy="3477953"/>
          </a:xfrm>
        </p:spPr>
        <p:txBody>
          <a:bodyPr>
            <a:normAutofit/>
          </a:bodyPr>
          <a:lstStyle/>
          <a:p>
            <a:pPr algn="just">
              <a:lnSpc>
                <a:spcPct val="150000"/>
              </a:lnSpc>
              <a:spcAft>
                <a:spcPts val="800"/>
              </a:spcAft>
            </a:pPr>
            <a:r>
              <a:rPr lang="en-US" sz="1800" dirty="0">
                <a:latin typeface="Times New Roman" panose="02020603050405020304" pitchFamily="18" charset="0"/>
                <a:ea typeface="Calibri" panose="020F0502020204030204" pitchFamily="34" charset="0"/>
                <a:cs typeface="Times New Roman" panose="02020603050405020304" pitchFamily="18" charset="0"/>
              </a:rPr>
              <a:t>Traditional Recruitment process and selection is a term that is often used to define the process when people apply for jobs using traditional paper applications and resumes. This is in contrast to the digital-only world of today, where job applications and resumes are mostly conducted online. This method of job application is referred to as traditional recruitment and selection. This method of job application is often used by large companies and organizations that have the time, space, and human resource to conduct traditional recruitment and selection</a:t>
            </a:r>
            <a:r>
              <a:rPr lang="en-IN" sz="1800" dirty="0">
                <a:latin typeface="Times New Roman" panose="02020603050405020304" pitchFamily="18" charset="0"/>
                <a:ea typeface="Calibri" panose="020F0502020204030204" pitchFamily="34" charset="0"/>
                <a:cs typeface="Times New Roman" panose="02020603050405020304" pitchFamily="18" charset="0"/>
              </a:rPr>
              <a:t>.</a:t>
            </a:r>
            <a:endParaRPr lang="en-IN" sz="16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5945839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186098" y="800892"/>
            <a:ext cx="8911687"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US" sz="2400" b="1" dirty="0">
              <a:latin typeface="Times New Roman" panose="02020603050405020304" pitchFamily="18" charset="0"/>
              <a:cs typeface="Times New Roman" panose="02020603050405020304" pitchFamily="18" charset="0"/>
            </a:endParaRPr>
          </a:p>
          <a:p>
            <a:pPr algn="ctr"/>
            <a:r>
              <a:rPr lang="en-US" sz="2400" b="1" dirty="0">
                <a:solidFill>
                  <a:schemeClr val="tx1"/>
                </a:solidFill>
                <a:latin typeface="Times New Roman" panose="02020603050405020304" pitchFamily="18" charset="0"/>
                <a:cs typeface="Times New Roman" panose="02020603050405020304" pitchFamily="18" charset="0"/>
              </a:rPr>
              <a:t>Disadvantages in Existing method:</a:t>
            </a:r>
          </a:p>
        </p:txBody>
      </p:sp>
      <p:sp>
        <p:nvSpPr>
          <p:cNvPr id="5" name="Content Placeholder 2"/>
          <p:cNvSpPr txBox="1">
            <a:spLocks/>
          </p:cNvSpPr>
          <p:nvPr/>
        </p:nvSpPr>
        <p:spPr>
          <a:xfrm>
            <a:off x="1531548" y="2714176"/>
            <a:ext cx="8915400" cy="1980156"/>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lvl="0">
              <a:lnSpc>
                <a:spcPct val="150000"/>
              </a:lnSpc>
              <a:spcAft>
                <a:spcPts val="1000"/>
              </a:spcAft>
              <a:buFont typeface="Symbol" panose="05050102010706020507" pitchFamily="18" charset="2"/>
              <a:buChar char=""/>
            </a:pPr>
            <a:r>
              <a:rPr lang="en-US" dirty="0">
                <a:latin typeface="Times New Roman" panose="02020603050405020304" pitchFamily="18" charset="0"/>
                <a:ea typeface="Times New Roman" panose="02020603050405020304" pitchFamily="18" charset="0"/>
                <a:cs typeface="Times New Roman" panose="02020603050405020304" pitchFamily="18" charset="0"/>
              </a:rPr>
              <a:t>News papers</a:t>
            </a:r>
            <a:endParaRPr lang="en-IN" sz="1400" dirty="0">
              <a:latin typeface="Calibri" panose="020F0502020204030204" pitchFamily="34" charset="0"/>
              <a:ea typeface="Calibri" panose="020F0502020204030204" pitchFamily="34" charset="0"/>
              <a:cs typeface="Times New Roman" panose="02020603050405020304" pitchFamily="18" charset="0"/>
            </a:endParaRPr>
          </a:p>
          <a:p>
            <a:pPr lvl="0">
              <a:lnSpc>
                <a:spcPct val="150000"/>
              </a:lnSpc>
              <a:spcAft>
                <a:spcPts val="1000"/>
              </a:spcAft>
              <a:buFont typeface="Symbol" panose="05050102010706020507" pitchFamily="18" charset="2"/>
              <a:buChar char=""/>
            </a:pPr>
            <a:r>
              <a:rPr lang="en-US" dirty="0">
                <a:latin typeface="Times New Roman" panose="02020603050405020304" pitchFamily="18" charset="0"/>
                <a:ea typeface="Times New Roman" panose="02020603050405020304" pitchFamily="18" charset="0"/>
                <a:cs typeface="Times New Roman" panose="02020603050405020304" pitchFamily="18" charset="0"/>
              </a:rPr>
              <a:t>Internal hiring process</a:t>
            </a:r>
            <a:endParaRPr lang="en-IN" sz="1400" dirty="0">
              <a:latin typeface="Calibri" panose="020F0502020204030204" pitchFamily="34" charset="0"/>
              <a:ea typeface="Calibri" panose="020F0502020204030204" pitchFamily="34" charset="0"/>
              <a:cs typeface="Times New Roman" panose="02020603050405020304" pitchFamily="18" charset="0"/>
            </a:endParaRPr>
          </a:p>
          <a:p>
            <a:r>
              <a:rPr lang="en-US" dirty="0">
                <a:latin typeface="Times New Roman" panose="02020603050405020304" pitchFamily="18" charset="0"/>
                <a:ea typeface="Times New Roman" panose="02020603050405020304" pitchFamily="18" charset="0"/>
              </a:rPr>
              <a:t>Local employment offices</a:t>
            </a:r>
            <a:endParaRPr lang="en-US"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814825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1270649" y="659969"/>
            <a:ext cx="8911687" cy="1280890"/>
          </a:xfrm>
        </p:spPr>
        <p:txBody>
          <a:bodyPr>
            <a:normAutofit/>
          </a:bodyPr>
          <a:lstStyle/>
          <a:p>
            <a:pPr algn="ctr"/>
            <a:r>
              <a:rPr lang="en-US" sz="2400" b="1" dirty="0">
                <a:latin typeface="Times New Roman" panose="02020603050405020304" pitchFamily="18" charset="0"/>
                <a:cs typeface="Times New Roman" panose="02020603050405020304" pitchFamily="18" charset="0"/>
              </a:rPr>
              <a:t>Proposed method:</a:t>
            </a:r>
          </a:p>
        </p:txBody>
      </p:sp>
      <p:sp>
        <p:nvSpPr>
          <p:cNvPr id="5" name="Content Placeholder 2"/>
          <p:cNvSpPr>
            <a:spLocks noGrp="1"/>
          </p:cNvSpPr>
          <p:nvPr>
            <p:ph idx="1"/>
          </p:nvPr>
        </p:nvSpPr>
        <p:spPr>
          <a:xfrm>
            <a:off x="1270650" y="2628900"/>
            <a:ext cx="9976470" cy="3215309"/>
          </a:xfrm>
        </p:spPr>
        <p:txBody>
          <a:bodyPr>
            <a:normAutofit fontScale="85000" lnSpcReduction="20000"/>
          </a:bodyPr>
          <a:lstStyle/>
          <a:p>
            <a:pPr algn="just">
              <a:lnSpc>
                <a:spcPct val="170000"/>
              </a:lnSpc>
              <a:spcAft>
                <a:spcPts val="800"/>
              </a:spcAft>
            </a:pPr>
            <a:r>
              <a:rPr lang="en-US" sz="19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The reports presented by these companies on the use of AI thus do not provide an actual picture of the usage and step by step evaluation as interviews are still a part of the recruitment process providing space for human bias. The aspect of AI to support human resources in decision making, not a threat as AI is considered to take over the human roles in human resource management, should also be studied in detail. Google ML Kit provided a very good technique which is Google OCR API kit. Which can read the text from pdf using camera v2 vision. Recommendation with text recognition useful to get key technologies from resume this makes useful sort the resumes for different technologies</a:t>
            </a:r>
            <a:r>
              <a:rPr lang="en-IN" sz="19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t>
            </a:r>
            <a:endParaRPr lang="en-IN" sz="1900" dirty="0">
              <a:latin typeface="Times New Roman" panose="02020603050405020304" pitchFamily="18" charset="0"/>
              <a:ea typeface="Calibri" panose="020F0502020204030204" pitchFamily="34" charset="0"/>
              <a:cs typeface="Times New Roman" panose="02020603050405020304" pitchFamily="18" charset="0"/>
            </a:endParaRPr>
          </a:p>
          <a:p>
            <a:pPr marL="0" indent="0" algn="just">
              <a:lnSpc>
                <a:spcPct val="150000"/>
              </a:lnSpc>
              <a:buNone/>
            </a:pPr>
            <a:r>
              <a:rPr lang="en-US" sz="1800" dirty="0">
                <a:latin typeface="Times New Roman" panose="02020603050405020304" pitchFamily="18" charset="0"/>
                <a:cs typeface="Times New Roman" panose="02020603050405020304" pitchFamily="18" charset="0"/>
              </a:rPr>
              <a:t>.</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486817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257183" y="800892"/>
            <a:ext cx="8911687"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US" sz="2400" b="1" dirty="0">
              <a:latin typeface="Times New Roman" panose="02020603050405020304" pitchFamily="18" charset="0"/>
              <a:cs typeface="Times New Roman" panose="02020603050405020304" pitchFamily="18" charset="0"/>
            </a:endParaRPr>
          </a:p>
          <a:p>
            <a:pPr algn="ctr"/>
            <a:r>
              <a:rPr lang="en-US" sz="2400" b="1" dirty="0">
                <a:solidFill>
                  <a:schemeClr val="tx1"/>
                </a:solidFill>
                <a:latin typeface="Times New Roman" panose="02020603050405020304" pitchFamily="18" charset="0"/>
                <a:cs typeface="Times New Roman" panose="02020603050405020304" pitchFamily="18" charset="0"/>
              </a:rPr>
              <a:t>Advantages of Proposed method:</a:t>
            </a:r>
            <a:br>
              <a:rPr lang="en-US" altLang="en-US" sz="2400" b="1" dirty="0">
                <a:latin typeface="Times New Roman" panose="02020603050405020304" pitchFamily="18" charset="0"/>
                <a:cs typeface="Times New Roman" panose="02020603050405020304" pitchFamily="18" charset="0"/>
              </a:rPr>
            </a:br>
            <a:endParaRPr lang="en-US" sz="2400" b="1" dirty="0">
              <a:latin typeface="Times New Roman" panose="02020603050405020304" pitchFamily="18" charset="0"/>
              <a:cs typeface="Times New Roman" panose="02020603050405020304" pitchFamily="18" charset="0"/>
            </a:endParaRPr>
          </a:p>
        </p:txBody>
      </p:sp>
      <p:sp>
        <p:nvSpPr>
          <p:cNvPr id="5" name="Content Placeholder 2"/>
          <p:cNvSpPr txBox="1">
            <a:spLocks/>
          </p:cNvSpPr>
          <p:nvPr/>
        </p:nvSpPr>
        <p:spPr>
          <a:xfrm>
            <a:off x="1424092" y="2887408"/>
            <a:ext cx="8915400" cy="3777622"/>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lvl="0" algn="just">
              <a:lnSpc>
                <a:spcPct val="150000"/>
              </a:lnSpc>
              <a:buFont typeface="Symbol" panose="05050102010706020507" pitchFamily="18" charset="2"/>
              <a:buChar char=""/>
            </a:pPr>
            <a:r>
              <a:rPr lang="en-US" dirty="0">
                <a:latin typeface="Times New Roman" panose="02020603050405020304" pitchFamily="18" charset="0"/>
                <a:ea typeface="Calibri" panose="020F0502020204030204" pitchFamily="34" charset="0"/>
                <a:cs typeface="Times New Roman" panose="02020603050405020304" pitchFamily="18" charset="0"/>
              </a:rPr>
              <a:t>Google vision API.</a:t>
            </a:r>
            <a:endParaRPr lang="en-IN" sz="1400" dirty="0">
              <a:latin typeface="Calibri" panose="020F0502020204030204" pitchFamily="34" charset="0"/>
              <a:ea typeface="Calibri" panose="020F0502020204030204" pitchFamily="34" charset="0"/>
              <a:cs typeface="Times New Roman" panose="02020603050405020304" pitchFamily="18" charset="0"/>
            </a:endParaRPr>
          </a:p>
          <a:p>
            <a:pPr lvl="0" algn="just">
              <a:lnSpc>
                <a:spcPct val="150000"/>
              </a:lnSpc>
              <a:spcAft>
                <a:spcPts val="800"/>
              </a:spcAft>
              <a:buFont typeface="Symbol" panose="05050102010706020507" pitchFamily="18" charset="2"/>
              <a:buChar char=""/>
            </a:pPr>
            <a:r>
              <a:rPr lang="en-US" dirty="0">
                <a:latin typeface="Times New Roman" panose="02020603050405020304" pitchFamily="18" charset="0"/>
                <a:ea typeface="Calibri" panose="020F0502020204030204" pitchFamily="34" charset="0"/>
                <a:cs typeface="Times New Roman" panose="02020603050405020304" pitchFamily="18" charset="0"/>
              </a:rPr>
              <a:t>Camera v2 vision. </a:t>
            </a:r>
            <a:endParaRPr lang="en-IN" sz="1400" dirty="0">
              <a:latin typeface="Calibri" panose="020F0502020204030204" pitchFamily="34" charset="0"/>
              <a:ea typeface="Calibri" panose="020F0502020204030204" pitchFamily="34" charset="0"/>
              <a:cs typeface="Times New Roman" panose="02020603050405020304" pitchFamily="18" charset="0"/>
            </a:endParaRPr>
          </a:p>
          <a:p>
            <a:r>
              <a:rPr lang="en-US" dirty="0">
                <a:latin typeface="Times New Roman" panose="02020603050405020304" pitchFamily="18" charset="0"/>
                <a:ea typeface="Calibri" panose="020F0502020204030204" pitchFamily="34" charset="0"/>
              </a:rPr>
              <a:t>Fast and accurate</a:t>
            </a:r>
            <a:r>
              <a:rPr lang="en-IN" dirty="0">
                <a:latin typeface="Times New Roman" panose="02020603050405020304" pitchFamily="18" charset="0"/>
                <a:ea typeface="Times New Roman" panose="02020603050405020304" pitchFamily="18" charset="0"/>
              </a:rPr>
              <a:t>.</a:t>
            </a:r>
            <a:endParaRPr lang="en-IN" sz="16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6292328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p:nvPr/>
        </p:nvSpPr>
        <p:spPr>
          <a:xfrm>
            <a:off x="1492935" y="759119"/>
            <a:ext cx="8721984" cy="1152060"/>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Propose System Flow</a:t>
            </a:r>
          </a:p>
        </p:txBody>
      </p:sp>
      <p:sp>
        <p:nvSpPr>
          <p:cNvPr id="5" name="Content Placeholder 2"/>
          <p:cNvSpPr txBox="1"/>
          <p:nvPr/>
        </p:nvSpPr>
        <p:spPr>
          <a:xfrm>
            <a:off x="1740016" y="1911179"/>
            <a:ext cx="8596668" cy="3880773"/>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marL="118745" indent="0" algn="just">
              <a:lnSpc>
                <a:spcPct val="150000"/>
              </a:lnSpc>
              <a:buNone/>
            </a:pPr>
            <a:endParaRPr lang="en-US" dirty="0">
              <a:solidFill>
                <a:schemeClr val="accent3">
                  <a:lumMod val="50000"/>
                </a:schemeClr>
              </a:solidFill>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385BA975-3D8F-462D-A118-CB680DB1D437}"/>
              </a:ext>
            </a:extLst>
          </p:cNvPr>
          <p:cNvPicPr>
            <a:picLocks noChangeAspect="1"/>
          </p:cNvPicPr>
          <p:nvPr/>
        </p:nvPicPr>
        <p:blipFill>
          <a:blip r:embed="rId2"/>
          <a:stretch>
            <a:fillRect/>
          </a:stretch>
        </p:blipFill>
        <p:spPr>
          <a:xfrm>
            <a:off x="2900159" y="2089468"/>
            <a:ext cx="5907536" cy="3103133"/>
          </a:xfrm>
          <a:prstGeom prst="rect">
            <a:avLst/>
          </a:prstGeom>
        </p:spPr>
      </p:pic>
    </p:spTree>
    <p:extLst>
      <p:ext uri="{BB962C8B-B14F-4D97-AF65-F5344CB8AC3E}">
        <p14:creationId xmlns:p14="http://schemas.microsoft.com/office/powerpoint/2010/main" val="9467966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p:nvPr/>
        </p:nvSpPr>
        <p:spPr>
          <a:xfrm>
            <a:off x="1492935" y="759119"/>
            <a:ext cx="8721984" cy="1152060"/>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HARDWARE &amp; SOFTWARE REQUIREMENTS</a:t>
            </a:r>
          </a:p>
        </p:txBody>
      </p:sp>
      <p:sp>
        <p:nvSpPr>
          <p:cNvPr id="4" name="Content Placeholder 2"/>
          <p:cNvSpPr txBox="1"/>
          <p:nvPr/>
        </p:nvSpPr>
        <p:spPr>
          <a:xfrm>
            <a:off x="2092735" y="2011149"/>
            <a:ext cx="8892944" cy="3576851"/>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marL="0" indent="0" algn="just">
              <a:lnSpc>
                <a:spcPct val="150000"/>
              </a:lnSpc>
              <a:buNone/>
            </a:pPr>
            <a:r>
              <a:rPr lang="en-US" sz="2000" b="1" dirty="0">
                <a:solidFill>
                  <a:schemeClr val="accent3">
                    <a:lumMod val="50000"/>
                  </a:schemeClr>
                </a:solidFill>
                <a:latin typeface="Times New Roman" panose="02020603050405020304" pitchFamily="18" charset="0"/>
                <a:cs typeface="Times New Roman" panose="02020603050405020304" pitchFamily="18" charset="0"/>
              </a:rPr>
              <a:t>SOFTWARE REQUIREMENS</a:t>
            </a:r>
            <a:endParaRPr lang="en-US" sz="2000" dirty="0">
              <a:latin typeface="Times New Roman" panose="02020603050405020304" pitchFamily="18" charset="0"/>
              <a:cs typeface="Times New Roman" panose="02020603050405020304" pitchFamily="18" charset="0"/>
            </a:endParaRPr>
          </a:p>
          <a:p>
            <a:pPr marL="342900" lvl="0" indent="-342900" algn="just">
              <a:lnSpc>
                <a:spcPct val="115000"/>
              </a:lnSpc>
              <a:spcAft>
                <a:spcPts val="1000"/>
              </a:spcAft>
              <a:buFont typeface="Symbol" panose="05050102010706020507" pitchFamily="18" charset="2"/>
              <a:buChar char=""/>
              <a:tabLst>
                <a:tab pos="457200" algn="l"/>
              </a:tabLst>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Operating System      	-   Windows 10	</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1000"/>
              </a:spcAft>
              <a:buFont typeface="Symbol" panose="05050102010706020507" pitchFamily="18" charset="2"/>
              <a:buChar char=""/>
              <a:tabLst>
                <a:tab pos="457200" algn="l"/>
              </a:tabLst>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JDK					-   Java(</a:t>
            </a:r>
            <a:r>
              <a:rPr lang="en-IN" sz="2000" dirty="0" err="1">
                <a:effectLst/>
                <a:latin typeface="Times New Roman" panose="02020603050405020304" pitchFamily="18" charset="0"/>
                <a:ea typeface="Calibri" panose="020F0502020204030204" pitchFamily="34" charset="0"/>
                <a:cs typeface="Times New Roman" panose="02020603050405020304" pitchFamily="18" charset="0"/>
              </a:rPr>
              <a:t>kotlin</a:t>
            </a: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1000"/>
              </a:spcAft>
              <a:buFont typeface="Symbol" panose="05050102010706020507" pitchFamily="18" charset="2"/>
              <a:buChar char=""/>
              <a:tabLst>
                <a:tab pos="457200" algn="l"/>
              </a:tabLst>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SDK					-   Android </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1000"/>
              </a:spcAft>
              <a:buFont typeface="Symbol" panose="05050102010706020507" pitchFamily="18" charset="2"/>
              <a:buChar char=""/>
              <a:tabLst>
                <a:tab pos="457200" algn="l"/>
              </a:tabLst>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IDE					- Android studio</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1000"/>
              </a:spcAft>
              <a:buFont typeface="Symbol" panose="05050102010706020507" pitchFamily="18" charset="2"/>
              <a:buChar char=""/>
              <a:tabLst>
                <a:tab pos="457200" algn="l"/>
              </a:tabLst>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Database				- my </a:t>
            </a:r>
            <a:r>
              <a:rPr lang="en-IN" sz="2000" dirty="0">
                <a:latin typeface="Times New Roman" panose="02020603050405020304" pitchFamily="18" charset="0"/>
                <a:ea typeface="Calibri" panose="020F0502020204030204" pitchFamily="34" charset="0"/>
                <a:cs typeface="Times New Roman" panose="02020603050405020304" pitchFamily="18" charset="0"/>
              </a:rPr>
              <a:t>SQL</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marL="137160" indent="0" algn="just">
              <a:lnSpc>
                <a:spcPct val="150000"/>
              </a:lnSpc>
              <a:buNone/>
            </a:pPr>
            <a:r>
              <a:rPr lang="en-US" sz="2000" dirty="0">
                <a:latin typeface="Times New Roman" panose="02020603050405020304" pitchFamily="18" charset="0"/>
                <a:cs typeface="Times New Roman" panose="02020603050405020304" pitchFamily="18" charset="0"/>
              </a:rPr>
              <a:t>      </a:t>
            </a:r>
            <a:endParaRPr lang="en-US" sz="2000" b="1" dirty="0">
              <a:solidFill>
                <a:schemeClr val="accent3">
                  <a:lumMod val="50000"/>
                </a:schemeClr>
              </a:solidFill>
              <a:latin typeface="Times New Roman" panose="02020603050405020304" pitchFamily="18" charset="0"/>
              <a:cs typeface="Times New Roman" panose="02020603050405020304" pitchFamily="18" charset="0"/>
            </a:endParaRPr>
          </a:p>
          <a:p>
            <a:pPr algn="just">
              <a:lnSpc>
                <a:spcPct val="150000"/>
              </a:lnSpc>
            </a:pPr>
            <a:endParaRPr lang="en-US" sz="2000" dirty="0">
              <a:latin typeface="Times New Roman" panose="02020603050405020304" pitchFamily="18" charset="0"/>
              <a:cs typeface="Times New Roman" panose="02020603050405020304" pitchFamily="18" charset="0"/>
            </a:endParaRPr>
          </a:p>
          <a:p>
            <a:pPr algn="just">
              <a:lnSpc>
                <a:spcPct val="150000"/>
              </a:lnSpc>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498363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p:nvPr/>
        </p:nvSpPr>
        <p:spPr>
          <a:xfrm>
            <a:off x="1492935" y="759119"/>
            <a:ext cx="8721984" cy="1152060"/>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HARDWARE &amp; SOFTWARE REQUIREMENTS</a:t>
            </a:r>
          </a:p>
        </p:txBody>
      </p:sp>
      <p:sp>
        <p:nvSpPr>
          <p:cNvPr id="5" name="Content Placeholder 2"/>
          <p:cNvSpPr txBox="1"/>
          <p:nvPr/>
        </p:nvSpPr>
        <p:spPr>
          <a:xfrm>
            <a:off x="1740016" y="1911179"/>
            <a:ext cx="8596668" cy="3880773"/>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marL="118745" indent="0" algn="just">
              <a:lnSpc>
                <a:spcPct val="150000"/>
              </a:lnSpc>
              <a:buNone/>
            </a:pPr>
            <a:r>
              <a:rPr lang="en-US" b="1" dirty="0">
                <a:solidFill>
                  <a:schemeClr val="accent3">
                    <a:lumMod val="50000"/>
                  </a:schemeClr>
                </a:solidFill>
                <a:latin typeface="Times New Roman" panose="02020603050405020304" pitchFamily="18" charset="0"/>
                <a:cs typeface="Times New Roman" panose="02020603050405020304" pitchFamily="18" charset="0"/>
              </a:rPr>
              <a:t>HARDWARE REQUIREMENTS</a:t>
            </a:r>
          </a:p>
          <a:p>
            <a:pPr marL="342900" lvl="0" indent="-342900" algn="just">
              <a:lnSpc>
                <a:spcPct val="115000"/>
              </a:lnSpc>
              <a:spcAft>
                <a:spcPts val="1000"/>
              </a:spcAft>
              <a:buFont typeface="Symbol" panose="05050102010706020507" pitchFamily="18" charset="2"/>
              <a:buChar char=""/>
              <a:tabLst>
                <a:tab pos="457200" algn="l"/>
              </a:tabLst>
            </a:pP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Processor                        -    I3/Intel Processor</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1000"/>
              </a:spcAft>
              <a:buFont typeface="Symbol" panose="05050102010706020507" pitchFamily="18" charset="2"/>
              <a:buChar char=""/>
              <a:tabLst>
                <a:tab pos="457200" algn="l"/>
              </a:tabLst>
            </a:pP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RAM                              -    8 GB </a:t>
            </a:r>
            <a:endParaRPr lang="en-IN" sz="24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1000"/>
              </a:spcAft>
              <a:buFont typeface="Symbol" panose="05050102010706020507" pitchFamily="18" charset="2"/>
              <a:buChar char=""/>
              <a:tabLst>
                <a:tab pos="457200" algn="l"/>
              </a:tabLst>
            </a:pP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Hard Disk                      -    1TB</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marL="118745" indent="0" algn="just">
              <a:lnSpc>
                <a:spcPct val="150000"/>
              </a:lnSpc>
              <a:buNone/>
            </a:pPr>
            <a:endParaRPr lang="en-US" dirty="0">
              <a:solidFill>
                <a:schemeClr val="accent3">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934282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720523" y="586121"/>
            <a:ext cx="8596668" cy="684901"/>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ltLang="en-US" sz="3600" b="1" dirty="0">
                <a:latin typeface="Times New Roman" panose="02020603050405020304" pitchFamily="18" charset="0"/>
                <a:cs typeface="Times New Roman" panose="02020603050405020304" pitchFamily="18" charset="0"/>
              </a:rPr>
              <a:t>Modules</a:t>
            </a:r>
            <a:br>
              <a:rPr lang="en-US" altLang="en-US" sz="3600" b="1" dirty="0">
                <a:latin typeface="Times New Roman" panose="02020603050405020304" pitchFamily="18" charset="0"/>
                <a:cs typeface="Times New Roman" panose="02020603050405020304" pitchFamily="18" charset="0"/>
              </a:rPr>
            </a:br>
            <a:endParaRPr lang="en-US" sz="3600" b="1" dirty="0"/>
          </a:p>
        </p:txBody>
      </p:sp>
      <p:sp>
        <p:nvSpPr>
          <p:cNvPr id="7" name="Rectangle 6"/>
          <p:cNvSpPr>
            <a:spLocks noChangeArrowheads="1"/>
          </p:cNvSpPr>
          <p:nvPr/>
        </p:nvSpPr>
        <p:spPr bwMode="auto">
          <a:xfrm>
            <a:off x="1720523" y="604005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 name="Rectangle 1">
            <a:extLst>
              <a:ext uri="{FF2B5EF4-FFF2-40B4-BE49-F238E27FC236}">
                <a16:creationId xmlns:a16="http://schemas.microsoft.com/office/drawing/2014/main" id="{56F605CD-187F-4318-8604-55D4D5D83E2D}"/>
              </a:ext>
            </a:extLst>
          </p:cNvPr>
          <p:cNvSpPr>
            <a:spLocks noChangeArrowheads="1"/>
          </p:cNvSpPr>
          <p:nvPr/>
        </p:nvSpPr>
        <p:spPr bwMode="auto">
          <a:xfrm>
            <a:off x="954157" y="1847451"/>
            <a:ext cx="10508974"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defTabSz="914400" eaLnBrk="0" fontAlgn="base" hangingPunct="0">
              <a:lnSpc>
                <a:spcPct val="150000"/>
              </a:lnSpc>
              <a:spcBef>
                <a:spcPct val="0"/>
              </a:spcBef>
              <a:spcAft>
                <a:spcPct val="0"/>
              </a:spcAft>
            </a:pPr>
            <a:r>
              <a:rPr lang="en-US" altLang="en-US" b="1" dirty="0">
                <a:latin typeface="Times New Roman" panose="02020603050405020304" pitchFamily="18" charset="0"/>
                <a:cs typeface="Times New Roman" panose="02020603050405020304" pitchFamily="18" charset="0"/>
              </a:rPr>
              <a:t>Admin: </a:t>
            </a:r>
            <a:r>
              <a:rPr lang="en-US" altLang="en-US" dirty="0">
                <a:latin typeface="Times New Roman" panose="02020603050405020304" pitchFamily="18" charset="0"/>
                <a:cs typeface="Times New Roman" panose="02020603050405020304" pitchFamily="18" charset="0"/>
              </a:rPr>
              <a:t>The admin module allows the addition of HR personnel, viewing user details, and accessing a list of shortlisted students. Admins also have the ability to update records in the database.</a:t>
            </a:r>
          </a:p>
          <a:p>
            <a:pPr lvl="0" algn="just" defTabSz="914400" eaLnBrk="0" fontAlgn="base" hangingPunct="0">
              <a:lnSpc>
                <a:spcPct val="150000"/>
              </a:lnSpc>
              <a:spcBef>
                <a:spcPct val="0"/>
              </a:spcBef>
              <a:spcAft>
                <a:spcPct val="0"/>
              </a:spcAft>
            </a:pPr>
            <a:endParaRPr lang="en-US" altLang="en-US" dirty="0">
              <a:latin typeface="Times New Roman" panose="02020603050405020304" pitchFamily="18" charset="0"/>
              <a:cs typeface="Times New Roman" panose="02020603050405020304" pitchFamily="18" charset="0"/>
            </a:endParaRPr>
          </a:p>
          <a:p>
            <a:pPr lvl="0" algn="just" defTabSz="914400" eaLnBrk="0" fontAlgn="base" hangingPunct="0">
              <a:lnSpc>
                <a:spcPct val="150000"/>
              </a:lnSpc>
              <a:spcBef>
                <a:spcPct val="0"/>
              </a:spcBef>
              <a:spcAft>
                <a:spcPct val="0"/>
              </a:spcAft>
            </a:pPr>
            <a:r>
              <a:rPr lang="en-US" altLang="en-US" b="1" dirty="0">
                <a:latin typeface="Times New Roman" panose="02020603050405020304" pitchFamily="18" charset="0"/>
                <a:cs typeface="Times New Roman" panose="02020603050405020304" pitchFamily="18" charset="0"/>
              </a:rPr>
              <a:t>HR: </a:t>
            </a:r>
            <a:r>
              <a:rPr lang="en-US" altLang="en-US" dirty="0">
                <a:latin typeface="Times New Roman" panose="02020603050405020304" pitchFamily="18" charset="0"/>
                <a:cs typeface="Times New Roman" panose="02020603050405020304" pitchFamily="18" charset="0"/>
              </a:rPr>
              <a:t>HR has access to add job offers, read resumes using AI, and make shortlists of candidates. HR can also update the job status and provide feedback, ensuring the recruitment process is efficient.</a:t>
            </a:r>
          </a:p>
          <a:p>
            <a:pPr lvl="0" algn="just" defTabSz="914400" eaLnBrk="0" fontAlgn="base" hangingPunct="0">
              <a:lnSpc>
                <a:spcPct val="150000"/>
              </a:lnSpc>
              <a:spcBef>
                <a:spcPct val="0"/>
              </a:spcBef>
              <a:spcAft>
                <a:spcPct val="0"/>
              </a:spcAft>
            </a:pPr>
            <a:endParaRPr lang="en-US" altLang="en-US" dirty="0">
              <a:latin typeface="Times New Roman" panose="02020603050405020304" pitchFamily="18" charset="0"/>
              <a:cs typeface="Times New Roman" panose="02020603050405020304" pitchFamily="18" charset="0"/>
            </a:endParaRPr>
          </a:p>
          <a:p>
            <a:pPr lvl="0" algn="just" defTabSz="914400" eaLnBrk="0" fontAlgn="base" hangingPunct="0">
              <a:lnSpc>
                <a:spcPct val="150000"/>
              </a:lnSpc>
              <a:spcBef>
                <a:spcPct val="0"/>
              </a:spcBef>
              <a:spcAft>
                <a:spcPct val="0"/>
              </a:spcAft>
            </a:pPr>
            <a:r>
              <a:rPr lang="en-US" altLang="en-US" b="1" dirty="0">
                <a:latin typeface="Times New Roman" panose="02020603050405020304" pitchFamily="18" charset="0"/>
                <a:cs typeface="Times New Roman" panose="02020603050405020304" pitchFamily="18" charset="0"/>
              </a:rPr>
              <a:t>User</a:t>
            </a:r>
            <a:r>
              <a:rPr lang="en-US" altLang="en-US" dirty="0">
                <a:latin typeface="Times New Roman" panose="02020603050405020304" pitchFamily="18" charset="0"/>
                <a:cs typeface="Times New Roman" panose="02020603050405020304" pitchFamily="18" charset="0"/>
              </a:rPr>
              <a:t>: Users can add personal details, view available job offers, upload resumes, and check their application status. Users can apply to job offers, and the system helps match them to suitable roles based on their profiles.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84711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797722" y="860595"/>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1771135" y="1911179"/>
            <a:ext cx="9045146" cy="3784600"/>
          </a:xfrm>
          <a:prstGeom prst="rect">
            <a:avLst/>
          </a:prstGeom>
          <a:noFill/>
        </p:spPr>
        <p:txBody>
          <a:bodyPr wrap="square" rtlCol="0">
            <a:spAutoFit/>
          </a:bodyPr>
          <a:lstStyle/>
          <a:p>
            <a:pPr marL="342900" lvl="0" indent="-342900" algn="just">
              <a:lnSpc>
                <a:spcPct val="150000"/>
              </a:lnSpc>
              <a:buFont typeface="Wingdings" panose="05000000000000000000" pitchFamily="2" charset="2"/>
              <a:buChar char="§"/>
            </a:pPr>
            <a:r>
              <a:rPr lang="en-US" sz="2000" b="1">
                <a:latin typeface="Times New Roman" panose="02020603050405020304" pitchFamily="18" charset="0"/>
                <a:cs typeface="Times New Roman" panose="02020603050405020304" pitchFamily="18" charset="0"/>
              </a:rPr>
              <a:t>Use Case Diagram:</a:t>
            </a:r>
          </a:p>
          <a:p>
            <a:pPr marL="342900" lvl="0" indent="-342900" algn="just">
              <a:lnSpc>
                <a:spcPct val="150000"/>
              </a:lnSpc>
              <a:buFont typeface="Wingdings" panose="05000000000000000000" pitchFamily="2" charset="2"/>
              <a:buChar char="§"/>
            </a:pPr>
            <a:r>
              <a:rPr lang="en-US" sz="2000">
                <a:latin typeface="Times New Roman" panose="02020603050405020304" pitchFamily="18" charset="0"/>
                <a:cs typeface="Times New Roman" panose="02020603050405020304" pitchFamily="18" charset="0"/>
              </a:rPr>
              <a:t>A use case diagram in the Unified Modeling Language (UML) is a type of behavioral diagram defined by and created from a Use-case analysis. Its purpose is to present a graphical overview of the functionality provided by a system in terms of actors, their goals (represented as use cases), and any dependencies between those use cases. The main purpose of a use case diagram is to show what system functions are performed for which actor. Roles of the actors in the system can be depicted.</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797666" y="699135"/>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2" name="Text Box 1"/>
          <p:cNvSpPr txBox="1"/>
          <p:nvPr/>
        </p:nvSpPr>
        <p:spPr>
          <a:xfrm>
            <a:off x="4534535" y="5790565"/>
            <a:ext cx="3307080" cy="368300"/>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Figure: Use Case Diagram</a:t>
            </a:r>
          </a:p>
        </p:txBody>
      </p:sp>
      <p:pic>
        <p:nvPicPr>
          <p:cNvPr id="5" name="Picture 4">
            <a:extLst>
              <a:ext uri="{FF2B5EF4-FFF2-40B4-BE49-F238E27FC236}">
                <a16:creationId xmlns:a16="http://schemas.microsoft.com/office/drawing/2014/main" id="{46386574-5661-42F5-ACF0-DD8A9F49DEB9}"/>
              </a:ext>
            </a:extLst>
          </p:cNvPr>
          <p:cNvPicPr>
            <a:picLocks noChangeAspect="1"/>
          </p:cNvPicPr>
          <p:nvPr/>
        </p:nvPicPr>
        <p:blipFill>
          <a:blip r:embed="rId2"/>
          <a:stretch>
            <a:fillRect/>
          </a:stretch>
        </p:blipFill>
        <p:spPr>
          <a:xfrm>
            <a:off x="3663609" y="2135521"/>
            <a:ext cx="4178006" cy="320528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797722" y="860595"/>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1771135" y="1911179"/>
            <a:ext cx="9045146" cy="2345322"/>
          </a:xfrm>
          <a:prstGeom prst="rect">
            <a:avLst/>
          </a:prstGeom>
          <a:noFill/>
        </p:spPr>
        <p:txBody>
          <a:bodyPr wrap="square" rtlCol="0">
            <a:spAutoFit/>
          </a:bodyPr>
          <a:lstStyle/>
          <a:p>
            <a:pPr marL="342900" lvl="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Class Diagram:</a:t>
            </a:r>
          </a:p>
          <a:p>
            <a:pPr algn="just">
              <a:lnSpc>
                <a:spcPct val="150000"/>
              </a:lnSpc>
            </a:pPr>
            <a:r>
              <a:rPr lang="en-US" sz="2000" dirty="0">
                <a:latin typeface="Times New Roman" panose="02020603050405020304" pitchFamily="18" charset="0"/>
                <a:cs typeface="Times New Roman" panose="02020603050405020304" pitchFamily="18" charset="0"/>
              </a:rPr>
              <a:t>In software engineering, a class diagram in the Unified Modelling Language (UML) is a type of static structure diagram that describes the structure of a system by showing the system's classes, their attributes, operations (or methods), and the relationships among the classes. It explains which class contains information.</a:t>
            </a:r>
          </a:p>
        </p:txBody>
      </p:sp>
    </p:spTree>
    <p:extLst>
      <p:ext uri="{BB962C8B-B14F-4D97-AF65-F5344CB8AC3E}">
        <p14:creationId xmlns:p14="http://schemas.microsoft.com/office/powerpoint/2010/main" val="18781646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50587" y="489892"/>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2" name="TextBox 1"/>
          <p:cNvSpPr txBox="1"/>
          <p:nvPr/>
        </p:nvSpPr>
        <p:spPr>
          <a:xfrm>
            <a:off x="4274827" y="5760689"/>
            <a:ext cx="2973860"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 Class diagram</a:t>
            </a:r>
          </a:p>
        </p:txBody>
      </p:sp>
      <p:pic>
        <p:nvPicPr>
          <p:cNvPr id="5" name="Picture 4">
            <a:extLst>
              <a:ext uri="{FF2B5EF4-FFF2-40B4-BE49-F238E27FC236}">
                <a16:creationId xmlns:a16="http://schemas.microsoft.com/office/drawing/2014/main" id="{3EF0123C-1A67-4853-9862-1106F07BB08A}"/>
              </a:ext>
            </a:extLst>
          </p:cNvPr>
          <p:cNvPicPr>
            <a:picLocks noChangeAspect="1"/>
          </p:cNvPicPr>
          <p:nvPr/>
        </p:nvPicPr>
        <p:blipFill>
          <a:blip r:embed="rId2"/>
          <a:stretch>
            <a:fillRect/>
          </a:stretch>
        </p:blipFill>
        <p:spPr>
          <a:xfrm>
            <a:off x="3123942" y="2368204"/>
            <a:ext cx="5944115" cy="2121592"/>
          </a:xfrm>
          <a:prstGeom prst="rect">
            <a:avLst/>
          </a:prstGeom>
        </p:spPr>
      </p:pic>
    </p:spTree>
    <p:extLst>
      <p:ext uri="{BB962C8B-B14F-4D97-AF65-F5344CB8AC3E}">
        <p14:creationId xmlns:p14="http://schemas.microsoft.com/office/powerpoint/2010/main" val="34241518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797722" y="860595"/>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1774882" y="1911179"/>
            <a:ext cx="9045146" cy="2806987"/>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Sequence Diagram:</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A sequence diagram in Unified Modelling Language (UML) is a kind of interaction diagram that shows how processes operate with one another and in what order. It is a construct of a Message Sequence Chart. Sequence diagrams are sometimes called event diagrams, event scenarios, and timing diagrams.</a:t>
            </a:r>
          </a:p>
          <a:p>
            <a:pPr marL="342900" lvl="0" indent="-342900" algn="just">
              <a:lnSpc>
                <a:spcPct val="150000"/>
              </a:lnSpc>
              <a:buFont typeface="Wingdings" panose="05000000000000000000" pitchFamily="2" charset="2"/>
              <a:buChar char="§"/>
            </a:pPr>
            <a:endParaRPr lang="en-US"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30366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50587" y="489892"/>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2" name="TextBox 1"/>
          <p:cNvSpPr txBox="1"/>
          <p:nvPr/>
        </p:nvSpPr>
        <p:spPr>
          <a:xfrm>
            <a:off x="4399006" y="5664909"/>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 Sequence diagram</a:t>
            </a:r>
          </a:p>
        </p:txBody>
      </p:sp>
      <p:pic>
        <p:nvPicPr>
          <p:cNvPr id="4" name="Picture 3">
            <a:extLst>
              <a:ext uri="{FF2B5EF4-FFF2-40B4-BE49-F238E27FC236}">
                <a16:creationId xmlns:a16="http://schemas.microsoft.com/office/drawing/2014/main" id="{FC481762-3FEA-480E-AF58-C68C65B22EBC}"/>
              </a:ext>
            </a:extLst>
          </p:cNvPr>
          <p:cNvPicPr>
            <a:picLocks noChangeAspect="1"/>
          </p:cNvPicPr>
          <p:nvPr/>
        </p:nvPicPr>
        <p:blipFill>
          <a:blip r:embed="rId2"/>
          <a:stretch>
            <a:fillRect/>
          </a:stretch>
        </p:blipFill>
        <p:spPr>
          <a:xfrm>
            <a:off x="3948156" y="1611478"/>
            <a:ext cx="4120863" cy="3862722"/>
          </a:xfrm>
          <a:prstGeom prst="rect">
            <a:avLst/>
          </a:prstGeom>
        </p:spPr>
      </p:pic>
    </p:spTree>
    <p:extLst>
      <p:ext uri="{BB962C8B-B14F-4D97-AF65-F5344CB8AC3E}">
        <p14:creationId xmlns:p14="http://schemas.microsoft.com/office/powerpoint/2010/main" val="22602381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73483" y="80293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1573483" y="2084174"/>
            <a:ext cx="9045146" cy="3268652"/>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Collaboration Diagram:</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In collaboration diagram the method call sequence is indicated by some numbering technique as shown below. The number indicates how the methods are called one after another. We have taken the same order management system to describe the collaboration diagram. The method calls are similar to that of a sequence diagram. But the difference is that the sequence diagram does not describe the object organization whereas the collaboration diagram shows the object organization.</a:t>
            </a:r>
          </a:p>
        </p:txBody>
      </p:sp>
    </p:spTree>
    <p:extLst>
      <p:ext uri="{BB962C8B-B14F-4D97-AF65-F5344CB8AC3E}">
        <p14:creationId xmlns:p14="http://schemas.microsoft.com/office/powerpoint/2010/main" val="30963352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50587" y="489892"/>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2" name="TextBox 1"/>
          <p:cNvSpPr txBox="1"/>
          <p:nvPr/>
        </p:nvSpPr>
        <p:spPr>
          <a:xfrm>
            <a:off x="4525257" y="5354673"/>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 Collaboration diagram</a:t>
            </a:r>
          </a:p>
        </p:txBody>
      </p:sp>
      <p:pic>
        <p:nvPicPr>
          <p:cNvPr id="4" name="Picture 3">
            <a:extLst>
              <a:ext uri="{FF2B5EF4-FFF2-40B4-BE49-F238E27FC236}">
                <a16:creationId xmlns:a16="http://schemas.microsoft.com/office/drawing/2014/main" id="{DCE0542E-22B9-4531-B187-2627E098CB1D}"/>
              </a:ext>
            </a:extLst>
          </p:cNvPr>
          <p:cNvPicPr>
            <a:picLocks noChangeAspect="1"/>
          </p:cNvPicPr>
          <p:nvPr/>
        </p:nvPicPr>
        <p:blipFill>
          <a:blip r:embed="rId2"/>
          <a:stretch>
            <a:fillRect/>
          </a:stretch>
        </p:blipFill>
        <p:spPr>
          <a:xfrm>
            <a:off x="3267211" y="1551269"/>
            <a:ext cx="5657578" cy="3755461"/>
          </a:xfrm>
          <a:prstGeom prst="rect">
            <a:avLst/>
          </a:prstGeom>
        </p:spPr>
      </p:pic>
    </p:spTree>
    <p:extLst>
      <p:ext uri="{BB962C8B-B14F-4D97-AF65-F5344CB8AC3E}">
        <p14:creationId xmlns:p14="http://schemas.microsoft.com/office/powerpoint/2010/main" val="9869847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73483" y="80293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1573483" y="2084174"/>
            <a:ext cx="9045146" cy="2345322"/>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Deployment Diagram</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Deployment diagram represents the deployment view of a system. It is related to the component diagram. Because the components are deployed using the deployment diagrams. A deployment diagram consists of nodes. Nodes are nothing but physical hardware’s used to deploy the application.</a:t>
            </a:r>
          </a:p>
        </p:txBody>
      </p:sp>
    </p:spTree>
    <p:extLst>
      <p:ext uri="{BB962C8B-B14F-4D97-AF65-F5344CB8AC3E}">
        <p14:creationId xmlns:p14="http://schemas.microsoft.com/office/powerpoint/2010/main" val="5824385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50587" y="489892"/>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2" name="TextBox 1"/>
          <p:cNvSpPr txBox="1"/>
          <p:nvPr/>
        </p:nvSpPr>
        <p:spPr>
          <a:xfrm>
            <a:off x="4431652" y="5627323"/>
            <a:ext cx="3670013" cy="369332"/>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Figure: Deployment diagram</a:t>
            </a:r>
            <a:endParaRPr lang="en-IN" sz="2000" dirty="0">
              <a:effectLst/>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BF7FFABD-AA07-436E-904B-5595F98D122B}"/>
              </a:ext>
            </a:extLst>
          </p:cNvPr>
          <p:cNvPicPr>
            <a:picLocks noChangeAspect="1"/>
          </p:cNvPicPr>
          <p:nvPr/>
        </p:nvPicPr>
        <p:blipFill>
          <a:blip r:embed="rId2"/>
          <a:stretch>
            <a:fillRect/>
          </a:stretch>
        </p:blipFill>
        <p:spPr>
          <a:xfrm>
            <a:off x="4166449" y="2429169"/>
            <a:ext cx="3859102" cy="1999661"/>
          </a:xfrm>
          <a:prstGeom prst="rect">
            <a:avLst/>
          </a:prstGeom>
        </p:spPr>
      </p:pic>
    </p:spTree>
    <p:extLst>
      <p:ext uri="{BB962C8B-B14F-4D97-AF65-F5344CB8AC3E}">
        <p14:creationId xmlns:p14="http://schemas.microsoft.com/office/powerpoint/2010/main" val="5388595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73483" y="80293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1573483" y="2084174"/>
            <a:ext cx="9045146" cy="2806987"/>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Activity Diagram:</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Activity diagrams are graphical representations of workflows of stepwise activities and actions with support for choice, iteration and concurrency. In the Unified Modelling Language, activity diagrams can be used to describe the business and operational step-by-step workflows of components in a system. An activity diagram shows the overall flow of control.</a:t>
            </a:r>
          </a:p>
        </p:txBody>
      </p:sp>
    </p:spTree>
    <p:extLst>
      <p:ext uri="{BB962C8B-B14F-4D97-AF65-F5344CB8AC3E}">
        <p14:creationId xmlns:p14="http://schemas.microsoft.com/office/powerpoint/2010/main" val="1720225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50587" y="489892"/>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2" name="TextBox 1"/>
          <p:cNvSpPr txBox="1"/>
          <p:nvPr/>
        </p:nvSpPr>
        <p:spPr>
          <a:xfrm>
            <a:off x="4267201" y="5516978"/>
            <a:ext cx="3670013" cy="369332"/>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Figure: Activity diagram</a:t>
            </a:r>
            <a:endParaRPr lang="en-IN" sz="2000" dirty="0">
              <a:effectLst/>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8ED9079A-FF1F-4D53-9ECC-32E0F9E7BBD6}"/>
              </a:ext>
            </a:extLst>
          </p:cNvPr>
          <p:cNvPicPr>
            <a:picLocks noChangeAspect="1"/>
          </p:cNvPicPr>
          <p:nvPr/>
        </p:nvPicPr>
        <p:blipFill>
          <a:blip r:embed="rId2"/>
          <a:stretch>
            <a:fillRect/>
          </a:stretch>
        </p:blipFill>
        <p:spPr>
          <a:xfrm>
            <a:off x="4014101" y="1426435"/>
            <a:ext cx="4163797" cy="4005130"/>
          </a:xfrm>
          <a:prstGeom prst="rect">
            <a:avLst/>
          </a:prstGeom>
        </p:spPr>
      </p:pic>
    </p:spTree>
    <p:extLst>
      <p:ext uri="{BB962C8B-B14F-4D97-AF65-F5344CB8AC3E}">
        <p14:creationId xmlns:p14="http://schemas.microsoft.com/office/powerpoint/2010/main" val="15998397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73483" y="80293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1573483" y="2084174"/>
            <a:ext cx="9045146" cy="2400657"/>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Component Diagram</a:t>
            </a:r>
            <a:r>
              <a:rPr lang="en-US" sz="2000" dirty="0">
                <a:latin typeface="Times New Roman" panose="02020603050405020304" pitchFamily="18" charset="0"/>
                <a:cs typeface="Times New Roman" panose="02020603050405020304" pitchFamily="18" charset="0"/>
              </a:rPr>
              <a:t>:</a:t>
            </a:r>
          </a:p>
          <a:p>
            <a:pPr algn="just">
              <a:lnSpc>
                <a:spcPct val="150000"/>
              </a:lnSpc>
            </a:pPr>
            <a:r>
              <a:rPr lang="en-US" sz="2000" dirty="0">
                <a:latin typeface="Times New Roman" panose="02020603050405020304" pitchFamily="18" charset="0"/>
                <a:cs typeface="Times New Roman" panose="02020603050405020304" pitchFamily="18" charset="0"/>
              </a:rPr>
              <a:t>A component diagram, also known as a UML component diagram, describes the organization and wiring of the physical </a:t>
            </a:r>
            <a:r>
              <a:rPr lang="en-US" sz="2000" b="1" dirty="0">
                <a:latin typeface="Times New Roman" panose="02020603050405020304" pitchFamily="18" charset="0"/>
                <a:cs typeface="Times New Roman" panose="02020603050405020304" pitchFamily="18" charset="0"/>
              </a:rPr>
              <a:t>c</a:t>
            </a:r>
            <a:r>
              <a:rPr lang="en-US" sz="2000" dirty="0">
                <a:latin typeface="Times New Roman" panose="02020603050405020304" pitchFamily="18" charset="0"/>
                <a:cs typeface="Times New Roman" panose="02020603050405020304" pitchFamily="18" charset="0"/>
              </a:rPr>
              <a:t>omponents in a system. Component diagrams are often drawn to help model implementation details and double-check that every aspect of the system's required functions is covered by planned development.</a:t>
            </a:r>
          </a:p>
        </p:txBody>
      </p:sp>
    </p:spTree>
    <p:extLst>
      <p:ext uri="{BB962C8B-B14F-4D97-AF65-F5344CB8AC3E}">
        <p14:creationId xmlns:p14="http://schemas.microsoft.com/office/powerpoint/2010/main" val="1427746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50587" y="489892"/>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2" name="TextBox 1"/>
          <p:cNvSpPr txBox="1"/>
          <p:nvPr/>
        </p:nvSpPr>
        <p:spPr>
          <a:xfrm>
            <a:off x="4341341" y="5288468"/>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 Component diagram</a:t>
            </a:r>
          </a:p>
        </p:txBody>
      </p:sp>
      <p:pic>
        <p:nvPicPr>
          <p:cNvPr id="5" name="Picture 4">
            <a:extLst>
              <a:ext uri="{FF2B5EF4-FFF2-40B4-BE49-F238E27FC236}">
                <a16:creationId xmlns:a16="http://schemas.microsoft.com/office/drawing/2014/main" id="{21155B90-736A-4759-B296-EF96A64DB434}"/>
              </a:ext>
            </a:extLst>
          </p:cNvPr>
          <p:cNvPicPr>
            <a:picLocks noChangeAspect="1"/>
          </p:cNvPicPr>
          <p:nvPr/>
        </p:nvPicPr>
        <p:blipFill>
          <a:blip r:embed="rId2"/>
          <a:stretch>
            <a:fillRect/>
          </a:stretch>
        </p:blipFill>
        <p:spPr>
          <a:xfrm>
            <a:off x="3751885" y="2313335"/>
            <a:ext cx="4688230" cy="2231329"/>
          </a:xfrm>
          <a:prstGeom prst="rect">
            <a:avLst/>
          </a:prstGeom>
        </p:spPr>
      </p:pic>
    </p:spTree>
    <p:extLst>
      <p:ext uri="{BB962C8B-B14F-4D97-AF65-F5344CB8AC3E}">
        <p14:creationId xmlns:p14="http://schemas.microsoft.com/office/powerpoint/2010/main" val="20991593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40531" y="539319"/>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963827" y="1470197"/>
            <a:ext cx="10536194" cy="4708981"/>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ER Diagram:</a:t>
            </a:r>
            <a:endParaRPr lang="en-US" sz="20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An Entity–relationship model (ER model) describes the structure of a database with the help of a diagram, which is known as Entity Relationship Diagram (ER Diagram). An ER model is a design or blueprint of a database that can later be implemented as a database. The main components of E-R model are: entity set and relationship set.</a:t>
            </a:r>
          </a:p>
          <a:p>
            <a:pPr marL="342900" indent="-342900" algn="just">
              <a:lnSpc>
                <a:spcPct val="15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An ER diagram shows the relationship among entity sets. An entity set is a group of similar entities and these entities can have attributes. In terms of DBMS, an entity is a table or attribute of a table in database, so by showing relationship among tables and their attributes, ER diagram shows the complete logical structure of a database. Let’s have a look at a simple ER diagram to understand this concept.</a:t>
            </a:r>
          </a:p>
        </p:txBody>
      </p:sp>
    </p:spTree>
    <p:extLst>
      <p:ext uri="{BB962C8B-B14F-4D97-AF65-F5344CB8AC3E}">
        <p14:creationId xmlns:p14="http://schemas.microsoft.com/office/powerpoint/2010/main" val="12731684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50587" y="489892"/>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2" name="TextBox 1"/>
          <p:cNvSpPr txBox="1"/>
          <p:nvPr/>
        </p:nvSpPr>
        <p:spPr>
          <a:xfrm>
            <a:off x="4384883" y="5414962"/>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 ER diagram</a:t>
            </a:r>
          </a:p>
        </p:txBody>
      </p:sp>
      <p:pic>
        <p:nvPicPr>
          <p:cNvPr id="5" name="Picture 4">
            <a:extLst>
              <a:ext uri="{FF2B5EF4-FFF2-40B4-BE49-F238E27FC236}">
                <a16:creationId xmlns:a16="http://schemas.microsoft.com/office/drawing/2014/main" id="{6EE8BF8F-212B-42A8-9FE4-2A84CF7A7019}"/>
              </a:ext>
            </a:extLst>
          </p:cNvPr>
          <p:cNvPicPr>
            <a:picLocks noChangeAspect="1"/>
          </p:cNvPicPr>
          <p:nvPr/>
        </p:nvPicPr>
        <p:blipFill>
          <a:blip r:embed="rId2"/>
          <a:stretch>
            <a:fillRect/>
          </a:stretch>
        </p:blipFill>
        <p:spPr>
          <a:xfrm>
            <a:off x="4170855" y="1606737"/>
            <a:ext cx="4098067" cy="3644526"/>
          </a:xfrm>
          <a:prstGeom prst="rect">
            <a:avLst/>
          </a:prstGeom>
        </p:spPr>
      </p:pic>
    </p:spTree>
    <p:extLst>
      <p:ext uri="{BB962C8B-B14F-4D97-AF65-F5344CB8AC3E}">
        <p14:creationId xmlns:p14="http://schemas.microsoft.com/office/powerpoint/2010/main" val="171200393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40531" y="539319"/>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1276865" y="1692618"/>
            <a:ext cx="9737124" cy="3785652"/>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DFD Diagram:</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A Data Flow Diagram (DFD) is a traditional way to visualize the information flows within a system. A neat and clear DFD can depict a good amount of the system requirements graphically. It can be manual, automated, or a combination of both. It shows how information enters and leaves the system, what changes the information and where information is stored. The purpose of a DFD is to show the scope and boundaries of a system as a whole. It may be used as a communications tool between a systems analyst and any person who plays a part in the system that acts as the starting point for redesigning a system.</a:t>
            </a:r>
          </a:p>
        </p:txBody>
      </p:sp>
    </p:spTree>
    <p:extLst>
      <p:ext uri="{BB962C8B-B14F-4D97-AF65-F5344CB8AC3E}">
        <p14:creationId xmlns:p14="http://schemas.microsoft.com/office/powerpoint/2010/main" val="19636286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50587" y="489892"/>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2" name="TextBox 1"/>
          <p:cNvSpPr txBox="1"/>
          <p:nvPr/>
        </p:nvSpPr>
        <p:spPr>
          <a:xfrm>
            <a:off x="4260993" y="5488523"/>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 Context Level diagram</a:t>
            </a:r>
          </a:p>
        </p:txBody>
      </p:sp>
      <p:pic>
        <p:nvPicPr>
          <p:cNvPr id="5" name="Picture 4">
            <a:extLst>
              <a:ext uri="{FF2B5EF4-FFF2-40B4-BE49-F238E27FC236}">
                <a16:creationId xmlns:a16="http://schemas.microsoft.com/office/drawing/2014/main" id="{F729056D-733D-4319-8DBE-4DA4B8C1D10D}"/>
              </a:ext>
            </a:extLst>
          </p:cNvPr>
          <p:cNvPicPr>
            <a:picLocks noChangeAspect="1"/>
          </p:cNvPicPr>
          <p:nvPr/>
        </p:nvPicPr>
        <p:blipFill>
          <a:blip r:embed="rId2"/>
          <a:stretch>
            <a:fillRect/>
          </a:stretch>
        </p:blipFill>
        <p:spPr>
          <a:xfrm>
            <a:off x="3123942" y="2145681"/>
            <a:ext cx="5944115" cy="2566638"/>
          </a:xfrm>
          <a:prstGeom prst="rect">
            <a:avLst/>
          </a:prstGeom>
        </p:spPr>
      </p:pic>
    </p:spTree>
    <p:extLst>
      <p:ext uri="{BB962C8B-B14F-4D97-AF65-F5344CB8AC3E}">
        <p14:creationId xmlns:p14="http://schemas.microsoft.com/office/powerpoint/2010/main" val="39811715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40531" y="539319"/>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OUTPUT SCREENS</a:t>
            </a:r>
          </a:p>
        </p:txBody>
      </p:sp>
      <p:pic>
        <p:nvPicPr>
          <p:cNvPr id="2" name="Picture 1">
            <a:extLst>
              <a:ext uri="{FF2B5EF4-FFF2-40B4-BE49-F238E27FC236}">
                <a16:creationId xmlns:a16="http://schemas.microsoft.com/office/drawing/2014/main" id="{DC45BEAD-EA31-448F-81DB-9ED956F67B02}"/>
              </a:ext>
            </a:extLst>
          </p:cNvPr>
          <p:cNvPicPr>
            <a:picLocks noChangeAspect="1"/>
          </p:cNvPicPr>
          <p:nvPr/>
        </p:nvPicPr>
        <p:blipFill>
          <a:blip r:embed="rId3"/>
          <a:stretch>
            <a:fillRect/>
          </a:stretch>
        </p:blipFill>
        <p:spPr>
          <a:xfrm>
            <a:off x="869990" y="1577009"/>
            <a:ext cx="2421510" cy="4157288"/>
          </a:xfrm>
          <a:prstGeom prst="rect">
            <a:avLst/>
          </a:prstGeom>
        </p:spPr>
      </p:pic>
      <p:pic>
        <p:nvPicPr>
          <p:cNvPr id="4" name="Picture 3">
            <a:extLst>
              <a:ext uri="{FF2B5EF4-FFF2-40B4-BE49-F238E27FC236}">
                <a16:creationId xmlns:a16="http://schemas.microsoft.com/office/drawing/2014/main" id="{EB85038C-3260-405C-BC7C-0426297CD9BC}"/>
              </a:ext>
            </a:extLst>
          </p:cNvPr>
          <p:cNvPicPr>
            <a:picLocks noChangeAspect="1"/>
          </p:cNvPicPr>
          <p:nvPr/>
        </p:nvPicPr>
        <p:blipFill>
          <a:blip r:embed="rId4"/>
          <a:stretch>
            <a:fillRect/>
          </a:stretch>
        </p:blipFill>
        <p:spPr>
          <a:xfrm>
            <a:off x="3913443" y="1577009"/>
            <a:ext cx="2182557" cy="4276558"/>
          </a:xfrm>
          <a:prstGeom prst="rect">
            <a:avLst/>
          </a:prstGeom>
        </p:spPr>
      </p:pic>
      <p:pic>
        <p:nvPicPr>
          <p:cNvPr id="6" name="Picture 5">
            <a:extLst>
              <a:ext uri="{FF2B5EF4-FFF2-40B4-BE49-F238E27FC236}">
                <a16:creationId xmlns:a16="http://schemas.microsoft.com/office/drawing/2014/main" id="{B1F03775-A320-4C40-8A20-0BA0E24B6389}"/>
              </a:ext>
            </a:extLst>
          </p:cNvPr>
          <p:cNvPicPr>
            <a:picLocks noChangeAspect="1"/>
          </p:cNvPicPr>
          <p:nvPr/>
        </p:nvPicPr>
        <p:blipFill>
          <a:blip r:embed="rId5"/>
          <a:stretch>
            <a:fillRect/>
          </a:stretch>
        </p:blipFill>
        <p:spPr>
          <a:xfrm>
            <a:off x="6341512" y="1470197"/>
            <a:ext cx="2286198" cy="4506201"/>
          </a:xfrm>
          <a:prstGeom prst="rect">
            <a:avLst/>
          </a:prstGeom>
        </p:spPr>
      </p:pic>
      <p:pic>
        <p:nvPicPr>
          <p:cNvPr id="7" name="Picture 6">
            <a:extLst>
              <a:ext uri="{FF2B5EF4-FFF2-40B4-BE49-F238E27FC236}">
                <a16:creationId xmlns:a16="http://schemas.microsoft.com/office/drawing/2014/main" id="{20FF3792-63C5-4383-86C3-10FCA20D2FF1}"/>
              </a:ext>
            </a:extLst>
          </p:cNvPr>
          <p:cNvPicPr>
            <a:picLocks noChangeAspect="1"/>
          </p:cNvPicPr>
          <p:nvPr/>
        </p:nvPicPr>
        <p:blipFill>
          <a:blip r:embed="rId6"/>
          <a:stretch>
            <a:fillRect/>
          </a:stretch>
        </p:blipFill>
        <p:spPr>
          <a:xfrm>
            <a:off x="8796112" y="1470197"/>
            <a:ext cx="2390586" cy="4506201"/>
          </a:xfrm>
          <a:prstGeom prst="rect">
            <a:avLst/>
          </a:prstGeom>
        </p:spPr>
      </p:pic>
    </p:spTree>
    <p:extLst>
      <p:ext uri="{BB962C8B-B14F-4D97-AF65-F5344CB8AC3E}">
        <p14:creationId xmlns:p14="http://schemas.microsoft.com/office/powerpoint/2010/main" val="31853240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40531" y="539319"/>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OUTPUT SCREENS</a:t>
            </a:r>
          </a:p>
        </p:txBody>
      </p:sp>
      <p:pic>
        <p:nvPicPr>
          <p:cNvPr id="8" name="Picture 7">
            <a:extLst>
              <a:ext uri="{FF2B5EF4-FFF2-40B4-BE49-F238E27FC236}">
                <a16:creationId xmlns:a16="http://schemas.microsoft.com/office/drawing/2014/main" id="{2D86F6E8-B385-46CB-9A02-16E4E92D4E01}"/>
              </a:ext>
            </a:extLst>
          </p:cNvPr>
          <p:cNvPicPr>
            <a:picLocks noChangeAspect="1"/>
          </p:cNvPicPr>
          <p:nvPr/>
        </p:nvPicPr>
        <p:blipFill>
          <a:blip r:embed="rId3"/>
          <a:stretch>
            <a:fillRect/>
          </a:stretch>
        </p:blipFill>
        <p:spPr>
          <a:xfrm>
            <a:off x="953249" y="1485438"/>
            <a:ext cx="2572735" cy="4590686"/>
          </a:xfrm>
          <a:prstGeom prst="rect">
            <a:avLst/>
          </a:prstGeom>
        </p:spPr>
      </p:pic>
      <p:pic>
        <p:nvPicPr>
          <p:cNvPr id="9" name="Picture 8">
            <a:extLst>
              <a:ext uri="{FF2B5EF4-FFF2-40B4-BE49-F238E27FC236}">
                <a16:creationId xmlns:a16="http://schemas.microsoft.com/office/drawing/2014/main" id="{299C5A96-3BA4-466C-A70E-95B962BB6854}"/>
              </a:ext>
            </a:extLst>
          </p:cNvPr>
          <p:cNvPicPr>
            <a:picLocks noChangeAspect="1"/>
          </p:cNvPicPr>
          <p:nvPr/>
        </p:nvPicPr>
        <p:blipFill>
          <a:blip r:embed="rId4"/>
          <a:stretch>
            <a:fillRect/>
          </a:stretch>
        </p:blipFill>
        <p:spPr>
          <a:xfrm>
            <a:off x="3828091" y="1522017"/>
            <a:ext cx="2267909" cy="4621169"/>
          </a:xfrm>
          <a:prstGeom prst="rect">
            <a:avLst/>
          </a:prstGeom>
        </p:spPr>
      </p:pic>
      <p:pic>
        <p:nvPicPr>
          <p:cNvPr id="10" name="Picture 9">
            <a:extLst>
              <a:ext uri="{FF2B5EF4-FFF2-40B4-BE49-F238E27FC236}">
                <a16:creationId xmlns:a16="http://schemas.microsoft.com/office/drawing/2014/main" id="{F1C881FB-EEAE-498A-B15F-A24CB12257E4}"/>
              </a:ext>
            </a:extLst>
          </p:cNvPr>
          <p:cNvPicPr>
            <a:picLocks noChangeAspect="1"/>
          </p:cNvPicPr>
          <p:nvPr/>
        </p:nvPicPr>
        <p:blipFill>
          <a:blip r:embed="rId5"/>
          <a:stretch>
            <a:fillRect/>
          </a:stretch>
        </p:blipFill>
        <p:spPr>
          <a:xfrm>
            <a:off x="6451116" y="1573837"/>
            <a:ext cx="2170364" cy="4517528"/>
          </a:xfrm>
          <a:prstGeom prst="rect">
            <a:avLst/>
          </a:prstGeom>
        </p:spPr>
      </p:pic>
      <p:pic>
        <p:nvPicPr>
          <p:cNvPr id="11" name="Picture 10">
            <a:extLst>
              <a:ext uri="{FF2B5EF4-FFF2-40B4-BE49-F238E27FC236}">
                <a16:creationId xmlns:a16="http://schemas.microsoft.com/office/drawing/2014/main" id="{4376018C-BA13-41CC-996B-526AEBEBCB37}"/>
              </a:ext>
            </a:extLst>
          </p:cNvPr>
          <p:cNvPicPr>
            <a:picLocks noChangeAspect="1"/>
          </p:cNvPicPr>
          <p:nvPr/>
        </p:nvPicPr>
        <p:blipFill>
          <a:blip r:embed="rId6"/>
          <a:stretch>
            <a:fillRect/>
          </a:stretch>
        </p:blipFill>
        <p:spPr>
          <a:xfrm>
            <a:off x="9119079" y="1522016"/>
            <a:ext cx="2036240" cy="4517527"/>
          </a:xfrm>
          <a:prstGeom prst="rect">
            <a:avLst/>
          </a:prstGeom>
        </p:spPr>
      </p:pic>
    </p:spTree>
    <p:extLst>
      <p:ext uri="{BB962C8B-B14F-4D97-AF65-F5344CB8AC3E}">
        <p14:creationId xmlns:p14="http://schemas.microsoft.com/office/powerpoint/2010/main" val="69720793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980358" y="778216"/>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CONCLUSION</a:t>
            </a:r>
          </a:p>
        </p:txBody>
      </p:sp>
      <p:sp>
        <p:nvSpPr>
          <p:cNvPr id="4" name="TextBox 3"/>
          <p:cNvSpPr txBox="1"/>
          <p:nvPr/>
        </p:nvSpPr>
        <p:spPr>
          <a:xfrm>
            <a:off x="1278835" y="2703007"/>
            <a:ext cx="9634330" cy="2540888"/>
          </a:xfrm>
          <a:prstGeom prst="rect">
            <a:avLst/>
          </a:prstGeom>
          <a:noFill/>
        </p:spPr>
        <p:txBody>
          <a:bodyPr wrap="square" rtlCol="0">
            <a:spAutoFit/>
          </a:bodyPr>
          <a:lstStyle/>
          <a:p>
            <a:pPr algn="just">
              <a:lnSpc>
                <a:spcPct val="150000"/>
              </a:lnSpc>
              <a:spcAft>
                <a:spcPts val="800"/>
              </a:spcAft>
            </a:pPr>
            <a:r>
              <a:rPr lang="en-US" dirty="0">
                <a:latin typeface="Times New Roman" panose="02020603050405020304" pitchFamily="18" charset="0"/>
                <a:ea typeface="Times New Roman" panose="02020603050405020304" pitchFamily="18" charset="0"/>
                <a:cs typeface="Times New Roman" panose="02020603050405020304" pitchFamily="18" charset="0"/>
              </a:rPr>
              <a:t>Artificial Intelligence (AI) has the potential to revolutionize the company recruiting process and enhance excellence in human resource management. Throughout this app, we have explored the challenges that AI faces in the hiring process and the outcomes that result from its implementation. We have also delved into the benefits of using AI in recruitment, such as identifying AI vendors and firms that have successfully adopted AI in their hiring practices, analyzing the present state of AI to facilitate the hiring process, and assessing the impact of AI adoption on recruitment outcomes</a:t>
            </a:r>
            <a:endParaRPr lang="en-IN"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54820735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980358" y="778216"/>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effectLst/>
                <a:latin typeface="Times New Roman" panose="02020603050405020304" pitchFamily="18" charset="0"/>
                <a:ea typeface="Calibri" panose="020F0502020204030204" pitchFamily="34" charset="0"/>
              </a:rPr>
              <a:t>FUTURE ENHANCEMENT</a:t>
            </a:r>
            <a:br>
              <a:rPr lang="en-US" altLang="en-US" sz="4400" b="1" dirty="0">
                <a:latin typeface="Times New Roman" panose="02020603050405020304" pitchFamily="18" charset="0"/>
                <a:cs typeface="Times New Roman" panose="02020603050405020304" pitchFamily="18" charset="0"/>
              </a:rPr>
            </a:br>
            <a:endParaRPr lang="en-US" sz="3600" b="1" dirty="0">
              <a:latin typeface="Times New Roman" panose="02020603050405020304" pitchFamily="18" charset="0"/>
              <a:cs typeface="Times New Roman" panose="02020603050405020304" pitchFamily="18" charset="0"/>
            </a:endParaRPr>
          </a:p>
        </p:txBody>
      </p:sp>
      <p:sp>
        <p:nvSpPr>
          <p:cNvPr id="4" name="TextBox 3"/>
          <p:cNvSpPr txBox="1"/>
          <p:nvPr/>
        </p:nvSpPr>
        <p:spPr>
          <a:xfrm>
            <a:off x="1481609" y="2915042"/>
            <a:ext cx="9557451" cy="1704569"/>
          </a:xfrm>
          <a:prstGeom prst="rect">
            <a:avLst/>
          </a:prstGeom>
          <a:noFill/>
        </p:spPr>
        <p:txBody>
          <a:bodyPr wrap="square" rtlCol="0">
            <a:spAutoFit/>
          </a:bodyPr>
          <a:lstStyle/>
          <a:p>
            <a:pPr algn="just">
              <a:lnSpc>
                <a:spcPct val="150000"/>
              </a:lnSpc>
            </a:pPr>
            <a:r>
              <a:rPr lang="en-US" dirty="0">
                <a:latin typeface="Times New Roman" panose="02020603050405020304" pitchFamily="18" charset="0"/>
                <a:ea typeface="Times New Roman" panose="02020603050405020304" pitchFamily="18" charset="0"/>
              </a:rPr>
              <a:t>Future improvements will focus on enhancing AI's ability to minimize bias in recruitment, provide comprehensive assessments of its impact, and ensure better integration with human decision-making. This will help create more efficient, transparent, and fair hiring practices across various industries, leading to more consistent and accurate recruitment outcomes.</a:t>
            </a:r>
            <a:endParaRPr lang="en-IN" dirty="0">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25989973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797666" y="773719"/>
            <a:ext cx="8596668" cy="684901"/>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REFERENCES</a:t>
            </a:r>
            <a:endParaRPr lang="en-US" sz="3600" b="1" dirty="0"/>
          </a:p>
        </p:txBody>
      </p:sp>
      <p:sp>
        <p:nvSpPr>
          <p:cNvPr id="4" name="Rectangle 3"/>
          <p:cNvSpPr/>
          <p:nvPr/>
        </p:nvSpPr>
        <p:spPr>
          <a:xfrm>
            <a:off x="865746" y="1539014"/>
            <a:ext cx="10460507" cy="3782446"/>
          </a:xfrm>
          <a:prstGeom prst="rect">
            <a:avLst/>
          </a:prstGeom>
        </p:spPr>
        <p:txBody>
          <a:bodyPr wrap="square">
            <a:spAutoFit/>
          </a:bodyPr>
          <a:lstStyle/>
          <a:p>
            <a:pPr marL="342900" lvl="0" indent="-342900" algn="just">
              <a:lnSpc>
                <a:spcPct val="150000"/>
              </a:lnSpc>
              <a:spcAft>
                <a:spcPts val="800"/>
              </a:spcAft>
              <a:buFont typeface="+mj-lt"/>
              <a:buAutoNum type="arabicPeriod"/>
              <a:tabLst>
                <a:tab pos="228600" algn="l"/>
              </a:tabLst>
            </a:pPr>
            <a:r>
              <a:rPr lang="en-IN" sz="1600" dirty="0">
                <a:latin typeface="Times New Roman" panose="02020603050405020304" pitchFamily="18" charset="0"/>
                <a:ea typeface="Calibri" panose="020F0502020204030204" pitchFamily="34" charset="0"/>
                <a:cs typeface="Times New Roman" panose="02020603050405020304" pitchFamily="18" charset="0"/>
              </a:rPr>
              <a:t>[1]. Role of Artificial Intelligence-Enabled Recruitment Processes in Sourcing Talent; Sujoy Sen; Sanjeev Kadam; V.V. Ravi Kumar; 04 May 2023</a:t>
            </a:r>
          </a:p>
          <a:p>
            <a:pPr marL="342900" lvl="0" indent="-342900" algn="just">
              <a:lnSpc>
                <a:spcPct val="150000"/>
              </a:lnSpc>
              <a:spcAft>
                <a:spcPts val="800"/>
              </a:spcAft>
              <a:buFont typeface="+mj-lt"/>
              <a:buAutoNum type="arabicPeriod"/>
              <a:tabLst>
                <a:tab pos="228600" algn="l"/>
              </a:tabLst>
            </a:pPr>
            <a:r>
              <a:rPr lang="en-IN" sz="1600" dirty="0">
                <a:latin typeface="Times New Roman" panose="02020603050405020304" pitchFamily="18" charset="0"/>
                <a:ea typeface="Calibri" panose="020F0502020204030204" pitchFamily="34" charset="0"/>
                <a:cs typeface="Times New Roman" panose="02020603050405020304" pitchFamily="18" charset="0"/>
              </a:rPr>
              <a:t>[2]. Role of Artificial Intelligence-Enabled Recruitment Processes in Sourcing Talent; 03-04 March 2023</a:t>
            </a:r>
          </a:p>
          <a:p>
            <a:pPr marL="342900" lvl="0" indent="-342900" algn="just">
              <a:lnSpc>
                <a:spcPct val="150000"/>
              </a:lnSpc>
              <a:spcAft>
                <a:spcPts val="800"/>
              </a:spcAft>
              <a:buFont typeface="+mj-lt"/>
              <a:buAutoNum type="arabicPeriod"/>
              <a:tabLst>
                <a:tab pos="228600" algn="l"/>
              </a:tabLst>
            </a:pPr>
            <a:r>
              <a:rPr lang="en-IN" sz="1600" dirty="0">
                <a:latin typeface="Times New Roman" panose="02020603050405020304" pitchFamily="18" charset="0"/>
                <a:ea typeface="Calibri" panose="020F0502020204030204" pitchFamily="34" charset="0"/>
                <a:cs typeface="Times New Roman" panose="02020603050405020304" pitchFamily="18" charset="0"/>
              </a:rPr>
              <a:t>[3]. AI Recruiting Tools Aim to Reduce Bias in the Hiring Process; https://spectrum.ieee.org/ai-tools-bias-hiring;  September 2020</a:t>
            </a:r>
          </a:p>
          <a:p>
            <a:pPr marL="342900" lvl="0" indent="-342900" algn="just">
              <a:lnSpc>
                <a:spcPct val="150000"/>
              </a:lnSpc>
              <a:spcAft>
                <a:spcPts val="800"/>
              </a:spcAft>
              <a:buFont typeface="+mj-lt"/>
              <a:buAutoNum type="arabicPeriod"/>
              <a:tabLst>
                <a:tab pos="228600" algn="l"/>
              </a:tabLst>
            </a:pPr>
            <a:r>
              <a:rPr lang="en-IN" sz="1600" dirty="0">
                <a:latin typeface="Times New Roman" panose="02020603050405020304" pitchFamily="18" charset="0"/>
                <a:ea typeface="Calibri" panose="020F0502020204030204" pitchFamily="34" charset="0"/>
                <a:cs typeface="Times New Roman" panose="02020603050405020304" pitchFamily="18" charset="0"/>
              </a:rPr>
              <a:t>[4]. </a:t>
            </a:r>
            <a:r>
              <a:rPr lang="en-IN" sz="1600" dirty="0" err="1">
                <a:latin typeface="Times New Roman" panose="02020603050405020304" pitchFamily="18" charset="0"/>
                <a:ea typeface="Calibri" panose="020F0502020204030204" pitchFamily="34" charset="0"/>
                <a:cs typeface="Times New Roman" panose="02020603050405020304" pitchFamily="18" charset="0"/>
              </a:rPr>
              <a:t>Beneduce</a:t>
            </a:r>
            <a:r>
              <a:rPr lang="en-IN" sz="1600" dirty="0">
                <a:latin typeface="Times New Roman" panose="02020603050405020304" pitchFamily="18" charset="0"/>
                <a:ea typeface="Calibri" panose="020F0502020204030204" pitchFamily="34" charset="0"/>
                <a:cs typeface="Times New Roman" panose="02020603050405020304" pitchFamily="18" charset="0"/>
              </a:rPr>
              <a:t>, G. (2020). Artificial Intelligence in Recruitment: just  because it´  s  biased,  does it  mean  it´s bad? (Doctoral dissertation). [Google Scholar] </a:t>
            </a:r>
          </a:p>
          <a:p>
            <a:pPr marL="342900" lvl="0" indent="-342900" algn="just">
              <a:lnSpc>
                <a:spcPct val="150000"/>
              </a:lnSpc>
              <a:spcAft>
                <a:spcPts val="800"/>
              </a:spcAft>
              <a:buFont typeface="+mj-lt"/>
              <a:buAutoNum type="arabicPeriod"/>
              <a:tabLst>
                <a:tab pos="228600" algn="l"/>
              </a:tabLst>
            </a:pPr>
            <a:r>
              <a:rPr lang="en-IN" sz="1600" dirty="0">
                <a:latin typeface="Times New Roman" panose="02020603050405020304" pitchFamily="18" charset="0"/>
                <a:ea typeface="Calibri" panose="020F0502020204030204" pitchFamily="34" charset="0"/>
                <a:cs typeface="Times New Roman" panose="02020603050405020304" pitchFamily="18" charset="0"/>
              </a:rPr>
              <a:t>[5]. </a:t>
            </a:r>
            <a:r>
              <a:rPr lang="en-IN" sz="1600" dirty="0" err="1">
                <a:latin typeface="Times New Roman" panose="02020603050405020304" pitchFamily="18" charset="0"/>
                <a:ea typeface="Calibri" panose="020F0502020204030204" pitchFamily="34" charset="0"/>
                <a:cs typeface="Times New Roman" panose="02020603050405020304" pitchFamily="18" charset="0"/>
              </a:rPr>
              <a:t>Brishti</a:t>
            </a:r>
            <a:r>
              <a:rPr lang="en-IN" sz="1600" dirty="0">
                <a:latin typeface="Times New Roman" panose="02020603050405020304" pitchFamily="18" charset="0"/>
                <a:ea typeface="Calibri" panose="020F0502020204030204" pitchFamily="34" charset="0"/>
                <a:cs typeface="Times New Roman" panose="02020603050405020304" pitchFamily="18" charset="0"/>
              </a:rPr>
              <a:t>, J.K. &amp; </a:t>
            </a:r>
            <a:r>
              <a:rPr lang="en-IN" sz="1600" dirty="0" err="1">
                <a:latin typeface="Times New Roman" panose="02020603050405020304" pitchFamily="18" charset="0"/>
                <a:ea typeface="Calibri" panose="020F0502020204030204" pitchFamily="34" charset="0"/>
                <a:cs typeface="Times New Roman" panose="02020603050405020304" pitchFamily="18" charset="0"/>
              </a:rPr>
              <a:t>Javed</a:t>
            </a:r>
            <a:r>
              <a:rPr lang="en-IN" sz="1600" dirty="0">
                <a:latin typeface="Times New Roman" panose="02020603050405020304" pitchFamily="18" charset="0"/>
                <a:ea typeface="Calibri" panose="020F0502020204030204" pitchFamily="34" charset="0"/>
                <a:cs typeface="Times New Roman" panose="02020603050405020304" pitchFamily="18" charset="0"/>
              </a:rPr>
              <a:t>, A. (2020). The viability of  ai-based recruitment process: A  systematic literature review. [Google Scholar] </a:t>
            </a:r>
          </a:p>
        </p:txBody>
      </p:sp>
    </p:spTree>
    <p:extLst>
      <p:ext uri="{BB962C8B-B14F-4D97-AF65-F5344CB8AC3E}">
        <p14:creationId xmlns:p14="http://schemas.microsoft.com/office/powerpoint/2010/main" val="56675277"/>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736</TotalTime>
  <Words>2403</Words>
  <Application>Microsoft Office PowerPoint</Application>
  <PresentationFormat>Widescreen</PresentationFormat>
  <Paragraphs>152</Paragraphs>
  <Slides>40</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40</vt:i4>
      </vt:variant>
    </vt:vector>
  </HeadingPairs>
  <TitlesOfParts>
    <vt:vector size="48" baseType="lpstr">
      <vt:lpstr>Arial</vt:lpstr>
      <vt:lpstr>Calibri</vt:lpstr>
      <vt:lpstr>Garamond</vt:lpstr>
      <vt:lpstr>Symbol</vt:lpstr>
      <vt:lpstr>Times New Roman</vt:lpstr>
      <vt:lpstr>Wingdings</vt:lpstr>
      <vt:lpstr>Wingdings 3</vt:lpstr>
      <vt:lpstr>Organic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Existing method:</vt:lpstr>
      <vt:lpstr>PowerPoint Presentation</vt:lpstr>
      <vt:lpstr>Proposed method: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Vinay Vallabhaneni</dc:creator>
  <cp:lastModifiedBy>Thakur Roshan Singh</cp:lastModifiedBy>
  <cp:revision>74</cp:revision>
  <dcterms:created xsi:type="dcterms:W3CDTF">2023-11-30T10:58:10Z</dcterms:created>
  <dcterms:modified xsi:type="dcterms:W3CDTF">2025-01-24T10:50:21Z</dcterms:modified>
</cp:coreProperties>
</file>